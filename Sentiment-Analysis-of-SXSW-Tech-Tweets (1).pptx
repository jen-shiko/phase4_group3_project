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07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rgbClr val="D7B6A3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D7B6A3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46434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5486400" cy="82295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D7B6A3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D7B6A3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4643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6569" y="540461"/>
            <a:ext cx="6846849" cy="18963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rgbClr val="D7B6A3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1520" y="1892808"/>
            <a:ext cx="13167360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400" cy="82295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67958" y="3009975"/>
            <a:ext cx="6732905" cy="1416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5610"/>
              </a:lnSpc>
            </a:pPr>
            <a:r>
              <a:rPr dirty="0"/>
              <a:t>Sentiment</a:t>
            </a:r>
            <a:r>
              <a:rPr spc="-280" dirty="0"/>
              <a:t> </a:t>
            </a:r>
            <a:r>
              <a:rPr dirty="0"/>
              <a:t>Analysis</a:t>
            </a:r>
            <a:r>
              <a:rPr spc="-1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20" dirty="0"/>
              <a:t>SXSW </a:t>
            </a:r>
            <a:r>
              <a:rPr spc="-50" dirty="0"/>
              <a:t>Tech</a:t>
            </a:r>
            <a:r>
              <a:rPr spc="-204" dirty="0"/>
              <a:t> </a:t>
            </a:r>
            <a:r>
              <a:rPr spc="-10" dirty="0"/>
              <a:t>Tweets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67958" y="4853685"/>
            <a:ext cx="5247005" cy="2503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Natural</a:t>
            </a:r>
            <a:r>
              <a:rPr sz="1750" spc="-2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Language</a:t>
            </a:r>
            <a:r>
              <a:rPr sz="1750" spc="-1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Processing</a:t>
            </a:r>
            <a:r>
              <a:rPr sz="1750" spc="-3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&amp; Machine</a:t>
            </a:r>
            <a:r>
              <a:rPr sz="1750" spc="-2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Learning</a:t>
            </a:r>
            <a:r>
              <a:rPr sz="1750" spc="-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Project</a:t>
            </a:r>
            <a:endParaRPr sz="1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750">
              <a:latin typeface="Times New Roman"/>
              <a:cs typeface="Times New Roman"/>
            </a:endParaRPr>
          </a:p>
          <a:p>
            <a:pPr marL="400685" marR="3364865" indent="-388620">
              <a:lnSpc>
                <a:spcPct val="138000"/>
              </a:lnSpc>
            </a:pP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By:</a:t>
            </a:r>
            <a:r>
              <a:rPr sz="1750" spc="-1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Lilibeth</a:t>
            </a:r>
            <a:r>
              <a:rPr sz="1750" spc="-3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Langat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Jeniffer</a:t>
            </a:r>
            <a:r>
              <a:rPr sz="1750" spc="-7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Mbugua Lydia</a:t>
            </a:r>
            <a:r>
              <a:rPr sz="1750" spc="-7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Khisa Vicky</a:t>
            </a:r>
            <a:r>
              <a:rPr sz="1750" spc="-7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20" dirty="0">
                <a:solidFill>
                  <a:srgbClr val="C8C2C0"/>
                </a:solidFill>
                <a:latin typeface="Times New Roman"/>
                <a:cs typeface="Times New Roman"/>
              </a:rPr>
              <a:t>Gakuo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Kefa</a:t>
            </a:r>
            <a:r>
              <a:rPr sz="1750" spc="-3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20" dirty="0">
                <a:solidFill>
                  <a:srgbClr val="C8C2C0"/>
                </a:solidFill>
                <a:latin typeface="Times New Roman"/>
                <a:cs typeface="Times New Roman"/>
              </a:rPr>
              <a:t>Mwai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304" y="1838070"/>
            <a:ext cx="1070673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Introduction:</a:t>
            </a:r>
            <a:r>
              <a:rPr spc="-13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Power</a:t>
            </a:r>
            <a:r>
              <a:rPr spc="-15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Sentiment</a:t>
            </a:r>
            <a:r>
              <a:rPr spc="-280" dirty="0"/>
              <a:t> </a:t>
            </a:r>
            <a:r>
              <a:rPr spc="-10" dirty="0"/>
              <a:t>Analysis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94004" y="3044951"/>
            <a:ext cx="4196080" cy="3302635"/>
            <a:chOff x="794004" y="3044951"/>
            <a:chExt cx="4196080" cy="3302635"/>
          </a:xfrm>
        </p:grpSpPr>
        <p:sp>
          <p:nvSpPr>
            <p:cNvPr id="4" name="object 4"/>
            <p:cNvSpPr/>
            <p:nvPr/>
          </p:nvSpPr>
          <p:spPr>
            <a:xfrm>
              <a:off x="794004" y="3044951"/>
              <a:ext cx="4196080" cy="3302635"/>
            </a:xfrm>
            <a:custGeom>
              <a:avLst/>
              <a:gdLst/>
              <a:ahLst/>
              <a:cxnLst/>
              <a:rect l="l" t="t" r="r" b="b"/>
              <a:pathLst>
                <a:path w="4196080" h="3302635">
                  <a:moveTo>
                    <a:pt x="4161536" y="0"/>
                  </a:moveTo>
                  <a:lnTo>
                    <a:pt x="34023" y="0"/>
                  </a:lnTo>
                  <a:lnTo>
                    <a:pt x="20777" y="2674"/>
                  </a:lnTo>
                  <a:lnTo>
                    <a:pt x="9963" y="9969"/>
                  </a:lnTo>
                  <a:lnTo>
                    <a:pt x="2672" y="20788"/>
                  </a:lnTo>
                  <a:lnTo>
                    <a:pt x="0" y="34036"/>
                  </a:lnTo>
                  <a:lnTo>
                    <a:pt x="0" y="3268472"/>
                  </a:lnTo>
                  <a:lnTo>
                    <a:pt x="2672" y="3281719"/>
                  </a:lnTo>
                  <a:lnTo>
                    <a:pt x="9963" y="3292538"/>
                  </a:lnTo>
                  <a:lnTo>
                    <a:pt x="20777" y="3299833"/>
                  </a:lnTo>
                  <a:lnTo>
                    <a:pt x="34023" y="3302508"/>
                  </a:lnTo>
                  <a:lnTo>
                    <a:pt x="4161536" y="3302508"/>
                  </a:lnTo>
                  <a:lnTo>
                    <a:pt x="4174783" y="3299833"/>
                  </a:lnTo>
                  <a:lnTo>
                    <a:pt x="4185602" y="3292538"/>
                  </a:lnTo>
                  <a:lnTo>
                    <a:pt x="4192897" y="3281719"/>
                  </a:lnTo>
                  <a:lnTo>
                    <a:pt x="4195572" y="3268472"/>
                  </a:lnTo>
                  <a:lnTo>
                    <a:pt x="4195572" y="34036"/>
                  </a:lnTo>
                  <a:lnTo>
                    <a:pt x="4192897" y="20788"/>
                  </a:lnTo>
                  <a:lnTo>
                    <a:pt x="4185602" y="9969"/>
                  </a:lnTo>
                  <a:lnTo>
                    <a:pt x="4174783" y="2674"/>
                  </a:lnTo>
                  <a:lnTo>
                    <a:pt x="4161536" y="0"/>
                  </a:lnTo>
                  <a:close/>
                </a:path>
              </a:pathLst>
            </a:custGeom>
            <a:solidFill>
              <a:srgbClr val="3734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21079" y="3272027"/>
              <a:ext cx="680085" cy="680085"/>
            </a:xfrm>
            <a:custGeom>
              <a:avLst/>
              <a:gdLst/>
              <a:ahLst/>
              <a:cxnLst/>
              <a:rect l="l" t="t" r="r" b="b"/>
              <a:pathLst>
                <a:path w="680085" h="680085">
                  <a:moveTo>
                    <a:pt x="339851" y="0"/>
                  </a:moveTo>
                  <a:lnTo>
                    <a:pt x="293736" y="3102"/>
                  </a:lnTo>
                  <a:lnTo>
                    <a:pt x="249506" y="12139"/>
                  </a:lnTo>
                  <a:lnTo>
                    <a:pt x="207567" y="26705"/>
                  </a:lnTo>
                  <a:lnTo>
                    <a:pt x="168322" y="46397"/>
                  </a:lnTo>
                  <a:lnTo>
                    <a:pt x="132179" y="70809"/>
                  </a:lnTo>
                  <a:lnTo>
                    <a:pt x="99541" y="99536"/>
                  </a:lnTo>
                  <a:lnTo>
                    <a:pt x="70812" y="132173"/>
                  </a:lnTo>
                  <a:lnTo>
                    <a:pt x="46400" y="168317"/>
                  </a:lnTo>
                  <a:lnTo>
                    <a:pt x="26707" y="207561"/>
                  </a:lnTo>
                  <a:lnTo>
                    <a:pt x="12139" y="249502"/>
                  </a:lnTo>
                  <a:lnTo>
                    <a:pt x="3102" y="293733"/>
                  </a:lnTo>
                  <a:lnTo>
                    <a:pt x="0" y="339851"/>
                  </a:lnTo>
                  <a:lnTo>
                    <a:pt x="3102" y="385970"/>
                  </a:lnTo>
                  <a:lnTo>
                    <a:pt x="12139" y="430201"/>
                  </a:lnTo>
                  <a:lnTo>
                    <a:pt x="26707" y="472142"/>
                  </a:lnTo>
                  <a:lnTo>
                    <a:pt x="46400" y="511386"/>
                  </a:lnTo>
                  <a:lnTo>
                    <a:pt x="70812" y="547530"/>
                  </a:lnTo>
                  <a:lnTo>
                    <a:pt x="99541" y="580167"/>
                  </a:lnTo>
                  <a:lnTo>
                    <a:pt x="132179" y="608894"/>
                  </a:lnTo>
                  <a:lnTo>
                    <a:pt x="168322" y="633306"/>
                  </a:lnTo>
                  <a:lnTo>
                    <a:pt x="207567" y="652998"/>
                  </a:lnTo>
                  <a:lnTo>
                    <a:pt x="249506" y="667564"/>
                  </a:lnTo>
                  <a:lnTo>
                    <a:pt x="293736" y="676601"/>
                  </a:lnTo>
                  <a:lnTo>
                    <a:pt x="339851" y="679704"/>
                  </a:lnTo>
                  <a:lnTo>
                    <a:pt x="385970" y="676601"/>
                  </a:lnTo>
                  <a:lnTo>
                    <a:pt x="430201" y="667564"/>
                  </a:lnTo>
                  <a:lnTo>
                    <a:pt x="472142" y="652998"/>
                  </a:lnTo>
                  <a:lnTo>
                    <a:pt x="511386" y="633306"/>
                  </a:lnTo>
                  <a:lnTo>
                    <a:pt x="547530" y="608894"/>
                  </a:lnTo>
                  <a:lnTo>
                    <a:pt x="580167" y="580167"/>
                  </a:lnTo>
                  <a:lnTo>
                    <a:pt x="608894" y="547530"/>
                  </a:lnTo>
                  <a:lnTo>
                    <a:pt x="633306" y="511386"/>
                  </a:lnTo>
                  <a:lnTo>
                    <a:pt x="652998" y="472142"/>
                  </a:lnTo>
                  <a:lnTo>
                    <a:pt x="667564" y="430201"/>
                  </a:lnTo>
                  <a:lnTo>
                    <a:pt x="676601" y="385970"/>
                  </a:lnTo>
                  <a:lnTo>
                    <a:pt x="679703" y="339851"/>
                  </a:lnTo>
                  <a:lnTo>
                    <a:pt x="676601" y="293733"/>
                  </a:lnTo>
                  <a:lnTo>
                    <a:pt x="667564" y="249502"/>
                  </a:lnTo>
                  <a:lnTo>
                    <a:pt x="652998" y="207561"/>
                  </a:lnTo>
                  <a:lnTo>
                    <a:pt x="633306" y="168317"/>
                  </a:lnTo>
                  <a:lnTo>
                    <a:pt x="608894" y="132173"/>
                  </a:lnTo>
                  <a:lnTo>
                    <a:pt x="580167" y="99536"/>
                  </a:lnTo>
                  <a:lnTo>
                    <a:pt x="547530" y="70809"/>
                  </a:lnTo>
                  <a:lnTo>
                    <a:pt x="511386" y="46397"/>
                  </a:lnTo>
                  <a:lnTo>
                    <a:pt x="472142" y="26705"/>
                  </a:lnTo>
                  <a:lnTo>
                    <a:pt x="430201" y="12139"/>
                  </a:lnTo>
                  <a:lnTo>
                    <a:pt x="385970" y="3102"/>
                  </a:lnTo>
                  <a:lnTo>
                    <a:pt x="339851" y="0"/>
                  </a:lnTo>
                  <a:close/>
                </a:path>
              </a:pathLst>
            </a:custGeom>
            <a:solidFill>
              <a:srgbClr val="C49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8531" y="3457955"/>
              <a:ext cx="304800" cy="30632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008075" y="4154551"/>
            <a:ext cx="3665854" cy="1953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C8C2C0"/>
                </a:solidFill>
                <a:latin typeface="Times New Roman"/>
                <a:cs typeface="Times New Roman"/>
              </a:rPr>
              <a:t>Unstructured</a:t>
            </a:r>
            <a:r>
              <a:rPr sz="2200" spc="-8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C8C2C0"/>
                </a:solidFill>
                <a:latin typeface="Times New Roman"/>
                <a:cs typeface="Times New Roman"/>
              </a:rPr>
              <a:t>Text</a:t>
            </a:r>
            <a:r>
              <a:rPr sz="2200" spc="-5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C8C2C0"/>
                </a:solidFill>
                <a:latin typeface="Times New Roman"/>
                <a:cs typeface="Times New Roman"/>
              </a:rPr>
              <a:t>Challenge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38100"/>
              </a:lnSpc>
              <a:spcBef>
                <a:spcPts val="940"/>
              </a:spcBef>
            </a:pP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Social</a:t>
            </a:r>
            <a:r>
              <a:rPr sz="1750" spc="-3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media</a:t>
            </a:r>
            <a:r>
              <a:rPr sz="1750" spc="-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platforms</a:t>
            </a:r>
            <a:r>
              <a:rPr sz="1750" spc="-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generate</a:t>
            </a:r>
            <a:r>
              <a:rPr sz="1750" spc="-4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massive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volumes</a:t>
            </a:r>
            <a:r>
              <a:rPr sz="1750" spc="-1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of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unstructured</a:t>
            </a:r>
            <a:r>
              <a:rPr sz="1750" spc="-5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text</a:t>
            </a:r>
            <a:r>
              <a:rPr sz="1750" spc="-3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daily,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creating</a:t>
            </a:r>
            <a:r>
              <a:rPr sz="1750" spc="-4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opportunities</a:t>
            </a:r>
            <a:r>
              <a:rPr sz="1750" spc="-5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for</a:t>
            </a:r>
            <a:r>
              <a:rPr sz="1750" spc="-1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automated analysis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216652" y="3044951"/>
            <a:ext cx="4197350" cy="3302635"/>
            <a:chOff x="5216652" y="3044951"/>
            <a:chExt cx="4197350" cy="3302635"/>
          </a:xfrm>
        </p:grpSpPr>
        <p:sp>
          <p:nvSpPr>
            <p:cNvPr id="9" name="object 9"/>
            <p:cNvSpPr/>
            <p:nvPr/>
          </p:nvSpPr>
          <p:spPr>
            <a:xfrm>
              <a:off x="5216652" y="3044951"/>
              <a:ext cx="4197350" cy="3302635"/>
            </a:xfrm>
            <a:custGeom>
              <a:avLst/>
              <a:gdLst/>
              <a:ahLst/>
              <a:cxnLst/>
              <a:rect l="l" t="t" r="r" b="b"/>
              <a:pathLst>
                <a:path w="4197350" h="3302635">
                  <a:moveTo>
                    <a:pt x="4163059" y="0"/>
                  </a:moveTo>
                  <a:lnTo>
                    <a:pt x="34036" y="0"/>
                  </a:lnTo>
                  <a:lnTo>
                    <a:pt x="20788" y="2674"/>
                  </a:lnTo>
                  <a:lnTo>
                    <a:pt x="9969" y="9969"/>
                  </a:lnTo>
                  <a:lnTo>
                    <a:pt x="2674" y="20788"/>
                  </a:lnTo>
                  <a:lnTo>
                    <a:pt x="0" y="34036"/>
                  </a:lnTo>
                  <a:lnTo>
                    <a:pt x="0" y="3268472"/>
                  </a:lnTo>
                  <a:lnTo>
                    <a:pt x="2674" y="3281719"/>
                  </a:lnTo>
                  <a:lnTo>
                    <a:pt x="9969" y="3292538"/>
                  </a:lnTo>
                  <a:lnTo>
                    <a:pt x="20788" y="3299833"/>
                  </a:lnTo>
                  <a:lnTo>
                    <a:pt x="34036" y="3302508"/>
                  </a:lnTo>
                  <a:lnTo>
                    <a:pt x="4163059" y="3302508"/>
                  </a:lnTo>
                  <a:lnTo>
                    <a:pt x="4176307" y="3299833"/>
                  </a:lnTo>
                  <a:lnTo>
                    <a:pt x="4187126" y="3292538"/>
                  </a:lnTo>
                  <a:lnTo>
                    <a:pt x="4194421" y="3281719"/>
                  </a:lnTo>
                  <a:lnTo>
                    <a:pt x="4197096" y="3268472"/>
                  </a:lnTo>
                  <a:lnTo>
                    <a:pt x="4197096" y="34036"/>
                  </a:lnTo>
                  <a:lnTo>
                    <a:pt x="4194421" y="20788"/>
                  </a:lnTo>
                  <a:lnTo>
                    <a:pt x="4187126" y="9969"/>
                  </a:lnTo>
                  <a:lnTo>
                    <a:pt x="4176307" y="2674"/>
                  </a:lnTo>
                  <a:lnTo>
                    <a:pt x="4163059" y="0"/>
                  </a:lnTo>
                  <a:close/>
                </a:path>
              </a:pathLst>
            </a:custGeom>
            <a:solidFill>
              <a:srgbClr val="3734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43728" y="3272027"/>
              <a:ext cx="681355" cy="680085"/>
            </a:xfrm>
            <a:custGeom>
              <a:avLst/>
              <a:gdLst/>
              <a:ahLst/>
              <a:cxnLst/>
              <a:rect l="l" t="t" r="r" b="b"/>
              <a:pathLst>
                <a:path w="681354" h="680085">
                  <a:moveTo>
                    <a:pt x="341375" y="0"/>
                  </a:moveTo>
                  <a:lnTo>
                    <a:pt x="339851" y="0"/>
                  </a:lnTo>
                  <a:lnTo>
                    <a:pt x="293733" y="3102"/>
                  </a:lnTo>
                  <a:lnTo>
                    <a:pt x="249502" y="12139"/>
                  </a:lnTo>
                  <a:lnTo>
                    <a:pt x="207561" y="26705"/>
                  </a:lnTo>
                  <a:lnTo>
                    <a:pt x="168317" y="46397"/>
                  </a:lnTo>
                  <a:lnTo>
                    <a:pt x="132173" y="70809"/>
                  </a:lnTo>
                  <a:lnTo>
                    <a:pt x="99536" y="99536"/>
                  </a:lnTo>
                  <a:lnTo>
                    <a:pt x="70809" y="132173"/>
                  </a:lnTo>
                  <a:lnTo>
                    <a:pt x="46397" y="168317"/>
                  </a:lnTo>
                  <a:lnTo>
                    <a:pt x="26705" y="207561"/>
                  </a:lnTo>
                  <a:lnTo>
                    <a:pt x="12139" y="249502"/>
                  </a:lnTo>
                  <a:lnTo>
                    <a:pt x="3102" y="293733"/>
                  </a:lnTo>
                  <a:lnTo>
                    <a:pt x="0" y="339851"/>
                  </a:lnTo>
                  <a:lnTo>
                    <a:pt x="3102" y="385970"/>
                  </a:lnTo>
                  <a:lnTo>
                    <a:pt x="12139" y="430201"/>
                  </a:lnTo>
                  <a:lnTo>
                    <a:pt x="26705" y="472142"/>
                  </a:lnTo>
                  <a:lnTo>
                    <a:pt x="46397" y="511386"/>
                  </a:lnTo>
                  <a:lnTo>
                    <a:pt x="70809" y="547530"/>
                  </a:lnTo>
                  <a:lnTo>
                    <a:pt x="99536" y="580167"/>
                  </a:lnTo>
                  <a:lnTo>
                    <a:pt x="132173" y="608894"/>
                  </a:lnTo>
                  <a:lnTo>
                    <a:pt x="168317" y="633306"/>
                  </a:lnTo>
                  <a:lnTo>
                    <a:pt x="207561" y="652998"/>
                  </a:lnTo>
                  <a:lnTo>
                    <a:pt x="249502" y="667564"/>
                  </a:lnTo>
                  <a:lnTo>
                    <a:pt x="293733" y="676601"/>
                  </a:lnTo>
                  <a:lnTo>
                    <a:pt x="339851" y="679704"/>
                  </a:lnTo>
                  <a:lnTo>
                    <a:pt x="341375" y="679704"/>
                  </a:lnTo>
                  <a:lnTo>
                    <a:pt x="387494" y="676601"/>
                  </a:lnTo>
                  <a:lnTo>
                    <a:pt x="431725" y="667564"/>
                  </a:lnTo>
                  <a:lnTo>
                    <a:pt x="473666" y="652998"/>
                  </a:lnTo>
                  <a:lnTo>
                    <a:pt x="512910" y="633306"/>
                  </a:lnTo>
                  <a:lnTo>
                    <a:pt x="549054" y="608894"/>
                  </a:lnTo>
                  <a:lnTo>
                    <a:pt x="581691" y="580167"/>
                  </a:lnTo>
                  <a:lnTo>
                    <a:pt x="610418" y="547530"/>
                  </a:lnTo>
                  <a:lnTo>
                    <a:pt x="634830" y="511386"/>
                  </a:lnTo>
                  <a:lnTo>
                    <a:pt x="654522" y="472142"/>
                  </a:lnTo>
                  <a:lnTo>
                    <a:pt x="669088" y="430201"/>
                  </a:lnTo>
                  <a:lnTo>
                    <a:pt x="678125" y="385970"/>
                  </a:lnTo>
                  <a:lnTo>
                    <a:pt x="681227" y="339851"/>
                  </a:lnTo>
                  <a:lnTo>
                    <a:pt x="678125" y="293733"/>
                  </a:lnTo>
                  <a:lnTo>
                    <a:pt x="669088" y="249502"/>
                  </a:lnTo>
                  <a:lnTo>
                    <a:pt x="654522" y="207561"/>
                  </a:lnTo>
                  <a:lnTo>
                    <a:pt x="634830" y="168317"/>
                  </a:lnTo>
                  <a:lnTo>
                    <a:pt x="610418" y="132173"/>
                  </a:lnTo>
                  <a:lnTo>
                    <a:pt x="581691" y="99536"/>
                  </a:lnTo>
                  <a:lnTo>
                    <a:pt x="549054" y="70809"/>
                  </a:lnTo>
                  <a:lnTo>
                    <a:pt x="512910" y="46397"/>
                  </a:lnTo>
                  <a:lnTo>
                    <a:pt x="473666" y="26705"/>
                  </a:lnTo>
                  <a:lnTo>
                    <a:pt x="431725" y="12139"/>
                  </a:lnTo>
                  <a:lnTo>
                    <a:pt x="387494" y="3102"/>
                  </a:lnTo>
                  <a:lnTo>
                    <a:pt x="341375" y="0"/>
                  </a:lnTo>
                  <a:close/>
                </a:path>
              </a:pathLst>
            </a:custGeom>
            <a:solidFill>
              <a:srgbClr val="C49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31180" y="3457955"/>
              <a:ext cx="306324" cy="30632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431663" y="4154551"/>
            <a:ext cx="3691890" cy="1953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C8C2C0"/>
                </a:solidFill>
                <a:latin typeface="Times New Roman"/>
                <a:cs typeface="Times New Roman"/>
              </a:rPr>
              <a:t>Public</a:t>
            </a:r>
            <a:r>
              <a:rPr sz="2200" spc="-7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C8C2C0"/>
                </a:solidFill>
                <a:latin typeface="Times New Roman"/>
                <a:cs typeface="Times New Roman"/>
              </a:rPr>
              <a:t>Opinion</a:t>
            </a:r>
            <a:r>
              <a:rPr sz="2200" spc="-7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C8C2C0"/>
                </a:solidFill>
                <a:latin typeface="Times New Roman"/>
                <a:cs typeface="Times New Roman"/>
              </a:rPr>
              <a:t>Insights</a:t>
            </a:r>
            <a:endParaRPr sz="2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38100"/>
              </a:lnSpc>
              <a:spcBef>
                <a:spcPts val="940"/>
              </a:spcBef>
            </a:pP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Sentiment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analysis</a:t>
            </a:r>
            <a:r>
              <a:rPr sz="1750" spc="-4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enables</a:t>
            </a:r>
            <a:r>
              <a:rPr sz="1750" spc="-3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organizations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to understand</a:t>
            </a:r>
            <a:r>
              <a:rPr sz="1750" spc="-3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public</a:t>
            </a:r>
            <a:r>
              <a:rPr sz="1750" spc="-1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opinion,</a:t>
            </a:r>
            <a:r>
              <a:rPr sz="1750" spc="-1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track</a:t>
            </a:r>
            <a:r>
              <a:rPr sz="1750" spc="-1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brand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perception,</a:t>
            </a:r>
            <a:r>
              <a:rPr sz="1750" spc="-5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and</a:t>
            </a:r>
            <a:r>
              <a:rPr sz="1750" spc="-4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identify</a:t>
            </a:r>
            <a:r>
              <a:rPr sz="1750" spc="-3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emerging</a:t>
            </a:r>
            <a:r>
              <a:rPr sz="1750" spc="-2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trends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in</a:t>
            </a:r>
            <a:r>
              <a:rPr sz="1750" spc="4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real-</a:t>
            </a:r>
            <a:r>
              <a:rPr sz="1750" spc="-20" dirty="0">
                <a:solidFill>
                  <a:srgbClr val="C8C2C0"/>
                </a:solidFill>
                <a:latin typeface="Times New Roman"/>
                <a:cs typeface="Times New Roman"/>
              </a:rPr>
              <a:t>time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640823" y="3044951"/>
            <a:ext cx="4196080" cy="3302635"/>
            <a:chOff x="9640823" y="3044951"/>
            <a:chExt cx="4196080" cy="3302635"/>
          </a:xfrm>
        </p:grpSpPr>
        <p:sp>
          <p:nvSpPr>
            <p:cNvPr id="14" name="object 14"/>
            <p:cNvSpPr/>
            <p:nvPr/>
          </p:nvSpPr>
          <p:spPr>
            <a:xfrm>
              <a:off x="9640823" y="3044951"/>
              <a:ext cx="4196080" cy="3302635"/>
            </a:xfrm>
            <a:custGeom>
              <a:avLst/>
              <a:gdLst/>
              <a:ahLst/>
              <a:cxnLst/>
              <a:rect l="l" t="t" r="r" b="b"/>
              <a:pathLst>
                <a:path w="4196080" h="3302635">
                  <a:moveTo>
                    <a:pt x="4161535" y="0"/>
                  </a:moveTo>
                  <a:lnTo>
                    <a:pt x="34035" y="0"/>
                  </a:lnTo>
                  <a:lnTo>
                    <a:pt x="20788" y="2674"/>
                  </a:lnTo>
                  <a:lnTo>
                    <a:pt x="9969" y="9969"/>
                  </a:lnTo>
                  <a:lnTo>
                    <a:pt x="2674" y="20788"/>
                  </a:lnTo>
                  <a:lnTo>
                    <a:pt x="0" y="34036"/>
                  </a:lnTo>
                  <a:lnTo>
                    <a:pt x="0" y="3268472"/>
                  </a:lnTo>
                  <a:lnTo>
                    <a:pt x="2674" y="3281719"/>
                  </a:lnTo>
                  <a:lnTo>
                    <a:pt x="9969" y="3292538"/>
                  </a:lnTo>
                  <a:lnTo>
                    <a:pt x="20788" y="3299833"/>
                  </a:lnTo>
                  <a:lnTo>
                    <a:pt x="34035" y="3302508"/>
                  </a:lnTo>
                  <a:lnTo>
                    <a:pt x="4161535" y="3302508"/>
                  </a:lnTo>
                  <a:lnTo>
                    <a:pt x="4174783" y="3299833"/>
                  </a:lnTo>
                  <a:lnTo>
                    <a:pt x="4185602" y="3292538"/>
                  </a:lnTo>
                  <a:lnTo>
                    <a:pt x="4192897" y="3281719"/>
                  </a:lnTo>
                  <a:lnTo>
                    <a:pt x="4195572" y="3268472"/>
                  </a:lnTo>
                  <a:lnTo>
                    <a:pt x="4195572" y="34036"/>
                  </a:lnTo>
                  <a:lnTo>
                    <a:pt x="4192897" y="20788"/>
                  </a:lnTo>
                  <a:lnTo>
                    <a:pt x="4185602" y="9969"/>
                  </a:lnTo>
                  <a:lnTo>
                    <a:pt x="4174783" y="2674"/>
                  </a:lnTo>
                  <a:lnTo>
                    <a:pt x="4161535" y="0"/>
                  </a:lnTo>
                  <a:close/>
                </a:path>
              </a:pathLst>
            </a:custGeom>
            <a:solidFill>
              <a:srgbClr val="3734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866375" y="3272027"/>
              <a:ext cx="681355" cy="680085"/>
            </a:xfrm>
            <a:custGeom>
              <a:avLst/>
              <a:gdLst/>
              <a:ahLst/>
              <a:cxnLst/>
              <a:rect l="l" t="t" r="r" b="b"/>
              <a:pathLst>
                <a:path w="681354" h="680085">
                  <a:moveTo>
                    <a:pt x="341375" y="0"/>
                  </a:moveTo>
                  <a:lnTo>
                    <a:pt x="339851" y="0"/>
                  </a:lnTo>
                  <a:lnTo>
                    <a:pt x="293733" y="3102"/>
                  </a:lnTo>
                  <a:lnTo>
                    <a:pt x="249502" y="12139"/>
                  </a:lnTo>
                  <a:lnTo>
                    <a:pt x="207561" y="26705"/>
                  </a:lnTo>
                  <a:lnTo>
                    <a:pt x="168317" y="46397"/>
                  </a:lnTo>
                  <a:lnTo>
                    <a:pt x="132173" y="70809"/>
                  </a:lnTo>
                  <a:lnTo>
                    <a:pt x="99536" y="99536"/>
                  </a:lnTo>
                  <a:lnTo>
                    <a:pt x="70809" y="132173"/>
                  </a:lnTo>
                  <a:lnTo>
                    <a:pt x="46397" y="168317"/>
                  </a:lnTo>
                  <a:lnTo>
                    <a:pt x="26705" y="207561"/>
                  </a:lnTo>
                  <a:lnTo>
                    <a:pt x="12139" y="249502"/>
                  </a:lnTo>
                  <a:lnTo>
                    <a:pt x="3102" y="293733"/>
                  </a:lnTo>
                  <a:lnTo>
                    <a:pt x="0" y="339851"/>
                  </a:lnTo>
                  <a:lnTo>
                    <a:pt x="3102" y="385970"/>
                  </a:lnTo>
                  <a:lnTo>
                    <a:pt x="12139" y="430201"/>
                  </a:lnTo>
                  <a:lnTo>
                    <a:pt x="26705" y="472142"/>
                  </a:lnTo>
                  <a:lnTo>
                    <a:pt x="46397" y="511386"/>
                  </a:lnTo>
                  <a:lnTo>
                    <a:pt x="70809" y="547530"/>
                  </a:lnTo>
                  <a:lnTo>
                    <a:pt x="99536" y="580167"/>
                  </a:lnTo>
                  <a:lnTo>
                    <a:pt x="132173" y="608894"/>
                  </a:lnTo>
                  <a:lnTo>
                    <a:pt x="168317" y="633306"/>
                  </a:lnTo>
                  <a:lnTo>
                    <a:pt x="207561" y="652998"/>
                  </a:lnTo>
                  <a:lnTo>
                    <a:pt x="249502" y="667564"/>
                  </a:lnTo>
                  <a:lnTo>
                    <a:pt x="293733" y="676601"/>
                  </a:lnTo>
                  <a:lnTo>
                    <a:pt x="339851" y="679704"/>
                  </a:lnTo>
                  <a:lnTo>
                    <a:pt x="341375" y="679704"/>
                  </a:lnTo>
                  <a:lnTo>
                    <a:pt x="387494" y="676601"/>
                  </a:lnTo>
                  <a:lnTo>
                    <a:pt x="431725" y="667564"/>
                  </a:lnTo>
                  <a:lnTo>
                    <a:pt x="473666" y="652998"/>
                  </a:lnTo>
                  <a:lnTo>
                    <a:pt x="512910" y="633306"/>
                  </a:lnTo>
                  <a:lnTo>
                    <a:pt x="549054" y="608894"/>
                  </a:lnTo>
                  <a:lnTo>
                    <a:pt x="581691" y="580167"/>
                  </a:lnTo>
                  <a:lnTo>
                    <a:pt x="610418" y="547530"/>
                  </a:lnTo>
                  <a:lnTo>
                    <a:pt x="634830" y="511386"/>
                  </a:lnTo>
                  <a:lnTo>
                    <a:pt x="654522" y="472142"/>
                  </a:lnTo>
                  <a:lnTo>
                    <a:pt x="669088" y="430201"/>
                  </a:lnTo>
                  <a:lnTo>
                    <a:pt x="678125" y="385970"/>
                  </a:lnTo>
                  <a:lnTo>
                    <a:pt x="681227" y="339851"/>
                  </a:lnTo>
                  <a:lnTo>
                    <a:pt x="678125" y="293733"/>
                  </a:lnTo>
                  <a:lnTo>
                    <a:pt x="669088" y="249502"/>
                  </a:lnTo>
                  <a:lnTo>
                    <a:pt x="654522" y="207561"/>
                  </a:lnTo>
                  <a:lnTo>
                    <a:pt x="634830" y="168317"/>
                  </a:lnTo>
                  <a:lnTo>
                    <a:pt x="610418" y="132173"/>
                  </a:lnTo>
                  <a:lnTo>
                    <a:pt x="581691" y="99536"/>
                  </a:lnTo>
                  <a:lnTo>
                    <a:pt x="549054" y="70809"/>
                  </a:lnTo>
                  <a:lnTo>
                    <a:pt x="512910" y="46397"/>
                  </a:lnTo>
                  <a:lnTo>
                    <a:pt x="473666" y="26705"/>
                  </a:lnTo>
                  <a:lnTo>
                    <a:pt x="431725" y="12139"/>
                  </a:lnTo>
                  <a:lnTo>
                    <a:pt x="387494" y="3102"/>
                  </a:lnTo>
                  <a:lnTo>
                    <a:pt x="341375" y="0"/>
                  </a:lnTo>
                  <a:close/>
                </a:path>
              </a:pathLst>
            </a:custGeom>
            <a:solidFill>
              <a:srgbClr val="C49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53827" y="3457955"/>
              <a:ext cx="306324" cy="306324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9855200" y="4154551"/>
            <a:ext cx="3760470" cy="1953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C8C2C0"/>
                </a:solidFill>
                <a:latin typeface="Times New Roman"/>
                <a:cs typeface="Times New Roman"/>
              </a:rPr>
              <a:t>Automated</a:t>
            </a:r>
            <a:r>
              <a:rPr sz="2200" spc="-10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C8C2C0"/>
                </a:solidFill>
                <a:latin typeface="Times New Roman"/>
                <a:cs typeface="Times New Roman"/>
              </a:rPr>
              <a:t>Classification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38100"/>
              </a:lnSpc>
              <a:spcBef>
                <a:spcPts val="940"/>
              </a:spcBef>
            </a:pP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Natural</a:t>
            </a:r>
            <a:r>
              <a:rPr sz="1750" spc="-2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Language</a:t>
            </a:r>
            <a:r>
              <a:rPr sz="1750" spc="-2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Processing</a:t>
            </a:r>
            <a:r>
              <a:rPr sz="1750" spc="-3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25" dirty="0">
                <a:solidFill>
                  <a:srgbClr val="C8C2C0"/>
                </a:solidFill>
                <a:latin typeface="Times New Roman"/>
                <a:cs typeface="Times New Roman"/>
              </a:rPr>
              <a:t>and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Machine</a:t>
            </a:r>
            <a:r>
              <a:rPr sz="1750" spc="-3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Learning</a:t>
            </a:r>
            <a:r>
              <a:rPr sz="1750" spc="-2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techniques</a:t>
            </a:r>
            <a:r>
              <a:rPr sz="1750" spc="-3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automate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sentiment</a:t>
            </a:r>
            <a:r>
              <a:rPr sz="1750" spc="-3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classification,</a:t>
            </a:r>
            <a:r>
              <a:rPr sz="1750" spc="-5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replacing</a:t>
            </a:r>
            <a:r>
              <a:rPr sz="1750" spc="-5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manual annotation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304" y="1139189"/>
            <a:ext cx="434467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9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/>
          <p:nvPr/>
        </p:nvSpPr>
        <p:spPr>
          <a:xfrm>
            <a:off x="794004" y="2487167"/>
            <a:ext cx="510540" cy="510540"/>
          </a:xfrm>
          <a:custGeom>
            <a:avLst/>
            <a:gdLst/>
            <a:ahLst/>
            <a:cxnLst/>
            <a:rect l="l" t="t" r="r" b="b"/>
            <a:pathLst>
              <a:path w="510540" h="510539">
                <a:moveTo>
                  <a:pt x="476504" y="0"/>
                </a:moveTo>
                <a:lnTo>
                  <a:pt x="34036" y="0"/>
                </a:lnTo>
                <a:lnTo>
                  <a:pt x="20788" y="2674"/>
                </a:lnTo>
                <a:lnTo>
                  <a:pt x="9969" y="9969"/>
                </a:lnTo>
                <a:lnTo>
                  <a:pt x="2674" y="20788"/>
                </a:lnTo>
                <a:lnTo>
                  <a:pt x="0" y="34036"/>
                </a:lnTo>
                <a:lnTo>
                  <a:pt x="0" y="476504"/>
                </a:lnTo>
                <a:lnTo>
                  <a:pt x="2674" y="489751"/>
                </a:lnTo>
                <a:lnTo>
                  <a:pt x="9969" y="500570"/>
                </a:lnTo>
                <a:lnTo>
                  <a:pt x="20788" y="507865"/>
                </a:lnTo>
                <a:lnTo>
                  <a:pt x="34036" y="510540"/>
                </a:lnTo>
                <a:lnTo>
                  <a:pt x="476504" y="510540"/>
                </a:lnTo>
                <a:lnTo>
                  <a:pt x="489751" y="507865"/>
                </a:lnTo>
                <a:lnTo>
                  <a:pt x="500570" y="500570"/>
                </a:lnTo>
                <a:lnTo>
                  <a:pt x="507865" y="489751"/>
                </a:lnTo>
                <a:lnTo>
                  <a:pt x="510539" y="476504"/>
                </a:lnTo>
                <a:lnTo>
                  <a:pt x="510539" y="34036"/>
                </a:lnTo>
                <a:lnTo>
                  <a:pt x="507865" y="20788"/>
                </a:lnTo>
                <a:lnTo>
                  <a:pt x="500570" y="9969"/>
                </a:lnTo>
                <a:lnTo>
                  <a:pt x="489751" y="2674"/>
                </a:lnTo>
                <a:lnTo>
                  <a:pt x="476504" y="0"/>
                </a:lnTo>
                <a:close/>
              </a:path>
            </a:pathLst>
          </a:custGeom>
          <a:solidFill>
            <a:srgbClr val="3734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64183" y="2435732"/>
            <a:ext cx="17018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50" dirty="0">
                <a:solidFill>
                  <a:srgbClr val="C8C2C0"/>
                </a:solidFill>
                <a:latin typeface="Georgia"/>
                <a:cs typeface="Georgia"/>
              </a:rPr>
              <a:t>1</a:t>
            </a:r>
            <a:endParaRPr sz="265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8285" y="2520848"/>
            <a:ext cx="1910714" cy="735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900"/>
              </a:lnSpc>
              <a:spcBef>
                <a:spcPts val="100"/>
              </a:spcBef>
            </a:pPr>
            <a:r>
              <a:rPr sz="2200" spc="-10" dirty="0">
                <a:solidFill>
                  <a:srgbClr val="C8C2C0"/>
                </a:solidFill>
                <a:latin typeface="Times New Roman"/>
                <a:cs typeface="Times New Roman"/>
              </a:rPr>
              <a:t>Manual</a:t>
            </a:r>
            <a:r>
              <a:rPr sz="2200" spc="-10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C8C2C0"/>
                </a:solidFill>
                <a:latin typeface="Times New Roman"/>
                <a:cs typeface="Times New Roman"/>
              </a:rPr>
              <a:t>Analysis Inefficiency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18285" y="3439972"/>
            <a:ext cx="3249930" cy="1499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38100"/>
              </a:lnSpc>
              <a:spcBef>
                <a:spcPts val="105"/>
              </a:spcBef>
            </a:pP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Manual</a:t>
            </a:r>
            <a:r>
              <a:rPr sz="1750" spc="-3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sentiment</a:t>
            </a:r>
            <a:r>
              <a:rPr sz="1750" spc="-2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analysis</a:t>
            </a:r>
            <a:r>
              <a:rPr sz="1750" spc="-3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becomes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impractical</a:t>
            </a:r>
            <a:r>
              <a:rPr sz="1750" spc="-3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with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thousands</a:t>
            </a:r>
            <a:r>
              <a:rPr sz="1750" spc="-5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25" dirty="0">
                <a:solidFill>
                  <a:srgbClr val="C8C2C0"/>
                </a:solidFill>
                <a:latin typeface="Times New Roman"/>
                <a:cs typeface="Times New Roman"/>
              </a:rPr>
              <a:t>of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tweets,</a:t>
            </a:r>
            <a:r>
              <a:rPr sz="1750" spc="-4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requiring</a:t>
            </a:r>
            <a:r>
              <a:rPr sz="1750" spc="-2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excessive</a:t>
            </a:r>
            <a:r>
              <a:rPr sz="1750" spc="-5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time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25" dirty="0">
                <a:solidFill>
                  <a:srgbClr val="C8C2C0"/>
                </a:solidFill>
                <a:latin typeface="Times New Roman"/>
                <a:cs typeface="Times New Roman"/>
              </a:rPr>
              <a:t>and 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resources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77967" y="2487167"/>
            <a:ext cx="510540" cy="510540"/>
          </a:xfrm>
          <a:custGeom>
            <a:avLst/>
            <a:gdLst/>
            <a:ahLst/>
            <a:cxnLst/>
            <a:rect l="l" t="t" r="r" b="b"/>
            <a:pathLst>
              <a:path w="510539" h="510539">
                <a:moveTo>
                  <a:pt x="476504" y="0"/>
                </a:moveTo>
                <a:lnTo>
                  <a:pt x="34036" y="0"/>
                </a:lnTo>
                <a:lnTo>
                  <a:pt x="20788" y="2674"/>
                </a:lnTo>
                <a:lnTo>
                  <a:pt x="9969" y="9969"/>
                </a:lnTo>
                <a:lnTo>
                  <a:pt x="2674" y="20788"/>
                </a:lnTo>
                <a:lnTo>
                  <a:pt x="0" y="34036"/>
                </a:lnTo>
                <a:lnTo>
                  <a:pt x="0" y="476504"/>
                </a:lnTo>
                <a:lnTo>
                  <a:pt x="2674" y="489751"/>
                </a:lnTo>
                <a:lnTo>
                  <a:pt x="9969" y="500570"/>
                </a:lnTo>
                <a:lnTo>
                  <a:pt x="20788" y="507865"/>
                </a:lnTo>
                <a:lnTo>
                  <a:pt x="34036" y="510540"/>
                </a:lnTo>
                <a:lnTo>
                  <a:pt x="476504" y="510540"/>
                </a:lnTo>
                <a:lnTo>
                  <a:pt x="489751" y="507865"/>
                </a:lnTo>
                <a:lnTo>
                  <a:pt x="500570" y="500570"/>
                </a:lnTo>
                <a:lnTo>
                  <a:pt x="507865" y="489751"/>
                </a:lnTo>
                <a:lnTo>
                  <a:pt x="510540" y="476504"/>
                </a:lnTo>
                <a:lnTo>
                  <a:pt x="510540" y="34036"/>
                </a:lnTo>
                <a:lnTo>
                  <a:pt x="507865" y="20788"/>
                </a:lnTo>
                <a:lnTo>
                  <a:pt x="500570" y="9969"/>
                </a:lnTo>
                <a:lnTo>
                  <a:pt x="489751" y="2674"/>
                </a:lnTo>
                <a:lnTo>
                  <a:pt x="476504" y="0"/>
                </a:lnTo>
                <a:close/>
              </a:path>
            </a:pathLst>
          </a:custGeom>
          <a:solidFill>
            <a:srgbClr val="3734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226811" y="2435732"/>
            <a:ext cx="213995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50" dirty="0">
                <a:solidFill>
                  <a:srgbClr val="C8C2C0"/>
                </a:solidFill>
                <a:latin typeface="Georgia"/>
                <a:cs typeface="Georgia"/>
              </a:rPr>
              <a:t>2</a:t>
            </a:r>
            <a:endParaRPr sz="265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02629" y="2541269"/>
            <a:ext cx="24898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C8C2C0"/>
                </a:solidFill>
                <a:latin typeface="Times New Roman"/>
                <a:cs typeface="Times New Roman"/>
              </a:rPr>
              <a:t>Noisy</a:t>
            </a:r>
            <a:r>
              <a:rPr sz="2200" spc="-5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C8C2C0"/>
                </a:solidFill>
                <a:latin typeface="Times New Roman"/>
                <a:cs typeface="Times New Roman"/>
              </a:rPr>
              <a:t>Data</a:t>
            </a:r>
            <a:r>
              <a:rPr sz="2200" spc="-4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C8C2C0"/>
                </a:solidFill>
                <a:latin typeface="Times New Roman"/>
                <a:cs typeface="Times New Roman"/>
              </a:rPr>
              <a:t>Challenge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02629" y="3086151"/>
            <a:ext cx="3102610" cy="1132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8300"/>
              </a:lnSpc>
              <a:spcBef>
                <a:spcPts val="100"/>
              </a:spcBef>
            </a:pP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Social</a:t>
            </a:r>
            <a:r>
              <a:rPr sz="1750" spc="-1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media</a:t>
            </a:r>
            <a:r>
              <a:rPr sz="1750" spc="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data</a:t>
            </a:r>
            <a:r>
              <a:rPr sz="1750" spc="-2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contains</a:t>
            </a:r>
            <a:r>
              <a:rPr sz="1750" spc="-3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emojis,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hashtags,</a:t>
            </a:r>
            <a:r>
              <a:rPr sz="1750" spc="-5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slang,</a:t>
            </a:r>
            <a:r>
              <a:rPr sz="1750" spc="-2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and typos </a:t>
            </a:r>
            <a:r>
              <a:rPr sz="1750" spc="-20" dirty="0">
                <a:solidFill>
                  <a:srgbClr val="C8C2C0"/>
                </a:solidFill>
                <a:latin typeface="Times New Roman"/>
                <a:cs typeface="Times New Roman"/>
              </a:rPr>
              <a:t>that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complicate</a:t>
            </a:r>
            <a:r>
              <a:rPr sz="1750" spc="-4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automated</a:t>
            </a:r>
            <a:r>
              <a:rPr sz="1750" spc="-2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processing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94004" y="5405628"/>
            <a:ext cx="510540" cy="510540"/>
          </a:xfrm>
          <a:custGeom>
            <a:avLst/>
            <a:gdLst/>
            <a:ahLst/>
            <a:cxnLst/>
            <a:rect l="l" t="t" r="r" b="b"/>
            <a:pathLst>
              <a:path w="510540" h="510539">
                <a:moveTo>
                  <a:pt x="476504" y="0"/>
                </a:moveTo>
                <a:lnTo>
                  <a:pt x="34036" y="0"/>
                </a:lnTo>
                <a:lnTo>
                  <a:pt x="20788" y="2674"/>
                </a:lnTo>
                <a:lnTo>
                  <a:pt x="9969" y="9969"/>
                </a:lnTo>
                <a:lnTo>
                  <a:pt x="2674" y="20788"/>
                </a:lnTo>
                <a:lnTo>
                  <a:pt x="0" y="34036"/>
                </a:lnTo>
                <a:lnTo>
                  <a:pt x="0" y="476504"/>
                </a:lnTo>
                <a:lnTo>
                  <a:pt x="2674" y="489751"/>
                </a:lnTo>
                <a:lnTo>
                  <a:pt x="9969" y="500570"/>
                </a:lnTo>
                <a:lnTo>
                  <a:pt x="20788" y="507865"/>
                </a:lnTo>
                <a:lnTo>
                  <a:pt x="34036" y="510540"/>
                </a:lnTo>
                <a:lnTo>
                  <a:pt x="476504" y="510540"/>
                </a:lnTo>
                <a:lnTo>
                  <a:pt x="489751" y="507865"/>
                </a:lnTo>
                <a:lnTo>
                  <a:pt x="500570" y="500570"/>
                </a:lnTo>
                <a:lnTo>
                  <a:pt x="507865" y="489751"/>
                </a:lnTo>
                <a:lnTo>
                  <a:pt x="510539" y="476504"/>
                </a:lnTo>
                <a:lnTo>
                  <a:pt x="510539" y="34036"/>
                </a:lnTo>
                <a:lnTo>
                  <a:pt x="507865" y="20788"/>
                </a:lnTo>
                <a:lnTo>
                  <a:pt x="500570" y="9969"/>
                </a:lnTo>
                <a:lnTo>
                  <a:pt x="489751" y="2674"/>
                </a:lnTo>
                <a:lnTo>
                  <a:pt x="476504" y="0"/>
                </a:lnTo>
                <a:close/>
              </a:path>
            </a:pathLst>
          </a:custGeom>
          <a:solidFill>
            <a:srgbClr val="3734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42847" y="5354828"/>
            <a:ext cx="211454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50" dirty="0">
                <a:solidFill>
                  <a:srgbClr val="C8C2C0"/>
                </a:solidFill>
                <a:latin typeface="Georgia"/>
                <a:cs typeface="Georgia"/>
              </a:rPr>
              <a:t>3</a:t>
            </a:r>
            <a:endParaRPr sz="265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18285" y="5460238"/>
            <a:ext cx="23977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C8C2C0"/>
                </a:solidFill>
                <a:latin typeface="Times New Roman"/>
                <a:cs typeface="Times New Roman"/>
              </a:rPr>
              <a:t>Need</a:t>
            </a:r>
            <a:r>
              <a:rPr sz="2200" spc="-4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C8C2C0"/>
                </a:solidFill>
                <a:latin typeface="Times New Roman"/>
                <a:cs typeface="Times New Roman"/>
              </a:rPr>
              <a:t>for</a:t>
            </a:r>
            <a:r>
              <a:rPr sz="2200" spc="-14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C8C2C0"/>
                </a:solidFill>
                <a:latin typeface="Times New Roman"/>
                <a:cs typeface="Times New Roman"/>
              </a:rPr>
              <a:t>Automation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18285" y="6005245"/>
            <a:ext cx="7223759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8300"/>
              </a:lnSpc>
              <a:spcBef>
                <a:spcPts val="100"/>
              </a:spcBef>
            </a:pP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Automated</a:t>
            </a:r>
            <a:r>
              <a:rPr sz="1750" spc="-1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sentiment</a:t>
            </a:r>
            <a:r>
              <a:rPr sz="1750" spc="-1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classification</a:t>
            </a:r>
            <a:r>
              <a:rPr sz="1750" spc="-4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systems</a:t>
            </a:r>
            <a:r>
              <a:rPr sz="1750" spc="-1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are</a:t>
            </a:r>
            <a:r>
              <a:rPr sz="1750" spc="-2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essential</a:t>
            </a:r>
            <a:r>
              <a:rPr sz="1750" spc="-5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for</a:t>
            </a:r>
            <a:r>
              <a:rPr sz="1750" spc="-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real-time</a:t>
            </a:r>
            <a:r>
              <a:rPr sz="1750" spc="-1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analysis</a:t>
            </a:r>
            <a:r>
              <a:rPr sz="1750" spc="-4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25" dirty="0">
                <a:solidFill>
                  <a:srgbClr val="C8C2C0"/>
                </a:solidFill>
                <a:latin typeface="Times New Roman"/>
                <a:cs typeface="Times New Roman"/>
              </a:rPr>
              <a:t>at 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scale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476231" y="1819655"/>
            <a:ext cx="4531360" cy="4814570"/>
          </a:xfrm>
          <a:custGeom>
            <a:avLst/>
            <a:gdLst/>
            <a:ahLst/>
            <a:cxnLst/>
            <a:rect l="l" t="t" r="r" b="b"/>
            <a:pathLst>
              <a:path w="4531359" h="4814570">
                <a:moveTo>
                  <a:pt x="4496816" y="0"/>
                </a:moveTo>
                <a:lnTo>
                  <a:pt x="34036" y="0"/>
                </a:lnTo>
                <a:lnTo>
                  <a:pt x="20788" y="2674"/>
                </a:lnTo>
                <a:lnTo>
                  <a:pt x="9969" y="9969"/>
                </a:lnTo>
                <a:lnTo>
                  <a:pt x="2674" y="20788"/>
                </a:lnTo>
                <a:lnTo>
                  <a:pt x="0" y="34036"/>
                </a:lnTo>
                <a:lnTo>
                  <a:pt x="0" y="4780280"/>
                </a:lnTo>
                <a:lnTo>
                  <a:pt x="2674" y="4793527"/>
                </a:lnTo>
                <a:lnTo>
                  <a:pt x="9969" y="4804346"/>
                </a:lnTo>
                <a:lnTo>
                  <a:pt x="20788" y="4811641"/>
                </a:lnTo>
                <a:lnTo>
                  <a:pt x="34036" y="4814316"/>
                </a:lnTo>
                <a:lnTo>
                  <a:pt x="4496816" y="4814316"/>
                </a:lnTo>
                <a:lnTo>
                  <a:pt x="4510063" y="4811641"/>
                </a:lnTo>
                <a:lnTo>
                  <a:pt x="4520882" y="4804346"/>
                </a:lnTo>
                <a:lnTo>
                  <a:pt x="4528177" y="4793527"/>
                </a:lnTo>
                <a:lnTo>
                  <a:pt x="4530852" y="4780280"/>
                </a:lnTo>
                <a:lnTo>
                  <a:pt x="4530852" y="34036"/>
                </a:lnTo>
                <a:lnTo>
                  <a:pt x="4528177" y="20788"/>
                </a:lnTo>
                <a:lnTo>
                  <a:pt x="4520882" y="9969"/>
                </a:lnTo>
                <a:lnTo>
                  <a:pt x="4510063" y="2674"/>
                </a:lnTo>
                <a:lnTo>
                  <a:pt x="4496816" y="0"/>
                </a:lnTo>
                <a:close/>
              </a:path>
            </a:pathLst>
          </a:custGeom>
          <a:solidFill>
            <a:srgbClr val="C49F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690607" y="2434843"/>
            <a:ext cx="178498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Times New Roman"/>
                <a:cs typeface="Times New Roman"/>
              </a:rPr>
              <a:t>Research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Focus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690607" y="2979852"/>
            <a:ext cx="3773804" cy="1132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8300"/>
              </a:lnSpc>
              <a:spcBef>
                <a:spcPts val="100"/>
              </a:spcBef>
            </a:pPr>
            <a:r>
              <a:rPr sz="1750" dirty="0">
                <a:latin typeface="Times New Roman"/>
                <a:cs typeface="Times New Roman"/>
              </a:rPr>
              <a:t>Developing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ML</a:t>
            </a:r>
            <a:r>
              <a:rPr sz="1750" spc="-8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models to classify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spc="-20" dirty="0">
                <a:latin typeface="Times New Roman"/>
                <a:cs typeface="Times New Roman"/>
              </a:rPr>
              <a:t>SXSW </a:t>
            </a:r>
            <a:r>
              <a:rPr sz="1750" dirty="0">
                <a:latin typeface="Times New Roman"/>
                <a:cs typeface="Times New Roman"/>
              </a:rPr>
              <a:t>technology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tweet</a:t>
            </a:r>
            <a:r>
              <a:rPr sz="1750" spc="-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sentiment</a:t>
            </a:r>
            <a:r>
              <a:rPr sz="1750" spc="-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accurately </a:t>
            </a:r>
            <a:r>
              <a:rPr sz="1750" dirty="0">
                <a:latin typeface="Times New Roman"/>
                <a:cs typeface="Times New Roman"/>
              </a:rPr>
              <a:t>despite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class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imbalance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67958" y="896492"/>
            <a:ext cx="409321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Dataset</a:t>
            </a:r>
            <a:r>
              <a:rPr spc="-145" dirty="0"/>
              <a:t> </a:t>
            </a:r>
            <a:r>
              <a:rPr spc="-10" dirty="0"/>
              <a:t>Overview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265164" y="1975104"/>
            <a:ext cx="3695700" cy="3371215"/>
            <a:chOff x="6265164" y="1975104"/>
            <a:chExt cx="3695700" cy="3371215"/>
          </a:xfrm>
        </p:grpSpPr>
        <p:sp>
          <p:nvSpPr>
            <p:cNvPr id="4" name="object 4"/>
            <p:cNvSpPr/>
            <p:nvPr/>
          </p:nvSpPr>
          <p:spPr>
            <a:xfrm>
              <a:off x="6280404" y="1990344"/>
              <a:ext cx="3665220" cy="3340735"/>
            </a:xfrm>
            <a:custGeom>
              <a:avLst/>
              <a:gdLst/>
              <a:ahLst/>
              <a:cxnLst/>
              <a:rect l="l" t="t" r="r" b="b"/>
              <a:pathLst>
                <a:path w="3665220" h="3340735">
                  <a:moveTo>
                    <a:pt x="3631184" y="0"/>
                  </a:moveTo>
                  <a:lnTo>
                    <a:pt x="34036" y="0"/>
                  </a:lnTo>
                  <a:lnTo>
                    <a:pt x="20788" y="2674"/>
                  </a:lnTo>
                  <a:lnTo>
                    <a:pt x="9969" y="9969"/>
                  </a:lnTo>
                  <a:lnTo>
                    <a:pt x="2674" y="20788"/>
                  </a:lnTo>
                  <a:lnTo>
                    <a:pt x="0" y="34035"/>
                  </a:lnTo>
                  <a:lnTo>
                    <a:pt x="0" y="3306572"/>
                  </a:lnTo>
                  <a:lnTo>
                    <a:pt x="2674" y="3319819"/>
                  </a:lnTo>
                  <a:lnTo>
                    <a:pt x="9969" y="3330638"/>
                  </a:lnTo>
                  <a:lnTo>
                    <a:pt x="20788" y="3337933"/>
                  </a:lnTo>
                  <a:lnTo>
                    <a:pt x="34036" y="3340607"/>
                  </a:lnTo>
                  <a:lnTo>
                    <a:pt x="3631184" y="3340607"/>
                  </a:lnTo>
                  <a:lnTo>
                    <a:pt x="3644431" y="3337933"/>
                  </a:lnTo>
                  <a:lnTo>
                    <a:pt x="3655250" y="3330638"/>
                  </a:lnTo>
                  <a:lnTo>
                    <a:pt x="3662545" y="3319819"/>
                  </a:lnTo>
                  <a:lnTo>
                    <a:pt x="3665220" y="3306572"/>
                  </a:lnTo>
                  <a:lnTo>
                    <a:pt x="3665220" y="34035"/>
                  </a:lnTo>
                  <a:lnTo>
                    <a:pt x="3662545" y="20788"/>
                  </a:lnTo>
                  <a:lnTo>
                    <a:pt x="3655250" y="9969"/>
                  </a:lnTo>
                  <a:lnTo>
                    <a:pt x="3644431" y="2674"/>
                  </a:lnTo>
                  <a:lnTo>
                    <a:pt x="3631184" y="0"/>
                  </a:lnTo>
                  <a:close/>
                </a:path>
              </a:pathLst>
            </a:custGeom>
            <a:solidFill>
              <a:srgbClr val="4643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80404" y="1990344"/>
              <a:ext cx="3665220" cy="3340735"/>
            </a:xfrm>
            <a:custGeom>
              <a:avLst/>
              <a:gdLst/>
              <a:ahLst/>
              <a:cxnLst/>
              <a:rect l="l" t="t" r="r" b="b"/>
              <a:pathLst>
                <a:path w="3665220" h="3340735">
                  <a:moveTo>
                    <a:pt x="0" y="34035"/>
                  </a:moveTo>
                  <a:lnTo>
                    <a:pt x="2674" y="20788"/>
                  </a:lnTo>
                  <a:lnTo>
                    <a:pt x="9969" y="9969"/>
                  </a:lnTo>
                  <a:lnTo>
                    <a:pt x="20788" y="2674"/>
                  </a:lnTo>
                  <a:lnTo>
                    <a:pt x="34036" y="0"/>
                  </a:lnTo>
                  <a:lnTo>
                    <a:pt x="3631184" y="0"/>
                  </a:lnTo>
                  <a:lnTo>
                    <a:pt x="3644431" y="2674"/>
                  </a:lnTo>
                  <a:lnTo>
                    <a:pt x="3655250" y="9969"/>
                  </a:lnTo>
                  <a:lnTo>
                    <a:pt x="3662545" y="20788"/>
                  </a:lnTo>
                  <a:lnTo>
                    <a:pt x="3665220" y="34035"/>
                  </a:lnTo>
                  <a:lnTo>
                    <a:pt x="3665220" y="3306572"/>
                  </a:lnTo>
                  <a:lnTo>
                    <a:pt x="3662545" y="3319819"/>
                  </a:lnTo>
                  <a:lnTo>
                    <a:pt x="3655250" y="3330638"/>
                  </a:lnTo>
                  <a:lnTo>
                    <a:pt x="3644431" y="3337933"/>
                  </a:lnTo>
                  <a:lnTo>
                    <a:pt x="3631184" y="3340607"/>
                  </a:lnTo>
                  <a:lnTo>
                    <a:pt x="34036" y="3340607"/>
                  </a:lnTo>
                  <a:lnTo>
                    <a:pt x="20788" y="3337933"/>
                  </a:lnTo>
                  <a:lnTo>
                    <a:pt x="9969" y="3330638"/>
                  </a:lnTo>
                  <a:lnTo>
                    <a:pt x="2674" y="3319819"/>
                  </a:lnTo>
                  <a:lnTo>
                    <a:pt x="0" y="3306572"/>
                  </a:lnTo>
                  <a:lnTo>
                    <a:pt x="0" y="34035"/>
                  </a:lnTo>
                  <a:close/>
                </a:path>
              </a:pathLst>
            </a:custGeom>
            <a:ln w="30480">
              <a:solidFill>
                <a:srgbClr val="504D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525259" y="2222754"/>
            <a:ext cx="3130550" cy="1586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C8C2C0"/>
                </a:solidFill>
                <a:latin typeface="Times New Roman"/>
                <a:cs typeface="Times New Roman"/>
              </a:rPr>
              <a:t>Source</a:t>
            </a:r>
            <a:r>
              <a:rPr sz="2200" spc="-5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C8C2C0"/>
                </a:solidFill>
                <a:latin typeface="Times New Roman"/>
                <a:cs typeface="Times New Roman"/>
              </a:rPr>
              <a:t>Data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38300"/>
              </a:lnSpc>
              <a:spcBef>
                <a:spcPts val="940"/>
              </a:spcBef>
            </a:pP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Tweets</a:t>
            </a:r>
            <a:r>
              <a:rPr sz="1750" spc="-5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mentioning</a:t>
            </a:r>
            <a:r>
              <a:rPr sz="1750" spc="-3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technology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products</a:t>
            </a:r>
            <a:r>
              <a:rPr sz="1750" spc="-2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during</a:t>
            </a:r>
            <a:r>
              <a:rPr sz="1750" spc="-2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SXSW</a:t>
            </a:r>
            <a:r>
              <a:rPr sz="1750" spc="-3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conference events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155935" y="1975104"/>
            <a:ext cx="3695700" cy="3371215"/>
            <a:chOff x="10155935" y="1975104"/>
            <a:chExt cx="3695700" cy="3371215"/>
          </a:xfrm>
        </p:grpSpPr>
        <p:sp>
          <p:nvSpPr>
            <p:cNvPr id="8" name="object 8"/>
            <p:cNvSpPr/>
            <p:nvPr/>
          </p:nvSpPr>
          <p:spPr>
            <a:xfrm>
              <a:off x="10171175" y="1990344"/>
              <a:ext cx="3665220" cy="3340735"/>
            </a:xfrm>
            <a:custGeom>
              <a:avLst/>
              <a:gdLst/>
              <a:ahLst/>
              <a:cxnLst/>
              <a:rect l="l" t="t" r="r" b="b"/>
              <a:pathLst>
                <a:path w="3665219" h="3340735">
                  <a:moveTo>
                    <a:pt x="3631183" y="0"/>
                  </a:moveTo>
                  <a:lnTo>
                    <a:pt x="34035" y="0"/>
                  </a:lnTo>
                  <a:lnTo>
                    <a:pt x="20788" y="2674"/>
                  </a:lnTo>
                  <a:lnTo>
                    <a:pt x="9969" y="9969"/>
                  </a:lnTo>
                  <a:lnTo>
                    <a:pt x="2674" y="20788"/>
                  </a:lnTo>
                  <a:lnTo>
                    <a:pt x="0" y="34035"/>
                  </a:lnTo>
                  <a:lnTo>
                    <a:pt x="0" y="3306572"/>
                  </a:lnTo>
                  <a:lnTo>
                    <a:pt x="2674" y="3319819"/>
                  </a:lnTo>
                  <a:lnTo>
                    <a:pt x="9969" y="3330638"/>
                  </a:lnTo>
                  <a:lnTo>
                    <a:pt x="20788" y="3337933"/>
                  </a:lnTo>
                  <a:lnTo>
                    <a:pt x="34035" y="3340607"/>
                  </a:lnTo>
                  <a:lnTo>
                    <a:pt x="3631183" y="3340607"/>
                  </a:lnTo>
                  <a:lnTo>
                    <a:pt x="3644431" y="3337933"/>
                  </a:lnTo>
                  <a:lnTo>
                    <a:pt x="3655250" y="3330638"/>
                  </a:lnTo>
                  <a:lnTo>
                    <a:pt x="3662545" y="3319819"/>
                  </a:lnTo>
                  <a:lnTo>
                    <a:pt x="3665220" y="3306572"/>
                  </a:lnTo>
                  <a:lnTo>
                    <a:pt x="3665220" y="34035"/>
                  </a:lnTo>
                  <a:lnTo>
                    <a:pt x="3662545" y="20788"/>
                  </a:lnTo>
                  <a:lnTo>
                    <a:pt x="3655250" y="9969"/>
                  </a:lnTo>
                  <a:lnTo>
                    <a:pt x="3644431" y="2674"/>
                  </a:lnTo>
                  <a:lnTo>
                    <a:pt x="3631183" y="0"/>
                  </a:lnTo>
                  <a:close/>
                </a:path>
              </a:pathLst>
            </a:custGeom>
            <a:solidFill>
              <a:srgbClr val="4643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171175" y="1990344"/>
              <a:ext cx="3665220" cy="3340735"/>
            </a:xfrm>
            <a:custGeom>
              <a:avLst/>
              <a:gdLst/>
              <a:ahLst/>
              <a:cxnLst/>
              <a:rect l="l" t="t" r="r" b="b"/>
              <a:pathLst>
                <a:path w="3665219" h="3340735">
                  <a:moveTo>
                    <a:pt x="0" y="34035"/>
                  </a:moveTo>
                  <a:lnTo>
                    <a:pt x="2674" y="20788"/>
                  </a:lnTo>
                  <a:lnTo>
                    <a:pt x="9969" y="9969"/>
                  </a:lnTo>
                  <a:lnTo>
                    <a:pt x="20788" y="2674"/>
                  </a:lnTo>
                  <a:lnTo>
                    <a:pt x="34035" y="0"/>
                  </a:lnTo>
                  <a:lnTo>
                    <a:pt x="3631183" y="0"/>
                  </a:lnTo>
                  <a:lnTo>
                    <a:pt x="3644431" y="2674"/>
                  </a:lnTo>
                  <a:lnTo>
                    <a:pt x="3655250" y="9969"/>
                  </a:lnTo>
                  <a:lnTo>
                    <a:pt x="3662545" y="20788"/>
                  </a:lnTo>
                  <a:lnTo>
                    <a:pt x="3665220" y="34035"/>
                  </a:lnTo>
                  <a:lnTo>
                    <a:pt x="3665220" y="3306572"/>
                  </a:lnTo>
                  <a:lnTo>
                    <a:pt x="3662545" y="3319819"/>
                  </a:lnTo>
                  <a:lnTo>
                    <a:pt x="3655250" y="3330638"/>
                  </a:lnTo>
                  <a:lnTo>
                    <a:pt x="3644431" y="3337933"/>
                  </a:lnTo>
                  <a:lnTo>
                    <a:pt x="3631183" y="3340607"/>
                  </a:lnTo>
                  <a:lnTo>
                    <a:pt x="34035" y="3340607"/>
                  </a:lnTo>
                  <a:lnTo>
                    <a:pt x="20788" y="3337933"/>
                  </a:lnTo>
                  <a:lnTo>
                    <a:pt x="9969" y="3330638"/>
                  </a:lnTo>
                  <a:lnTo>
                    <a:pt x="2674" y="3319819"/>
                  </a:lnTo>
                  <a:lnTo>
                    <a:pt x="0" y="3306572"/>
                  </a:lnTo>
                  <a:lnTo>
                    <a:pt x="0" y="34035"/>
                  </a:lnTo>
                  <a:close/>
                </a:path>
              </a:pathLst>
            </a:custGeom>
            <a:ln w="30480">
              <a:solidFill>
                <a:srgbClr val="504D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417302" y="2222754"/>
            <a:ext cx="15049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C8C2C0"/>
                </a:solidFill>
                <a:latin typeface="Times New Roman"/>
                <a:cs typeface="Times New Roman"/>
              </a:rPr>
              <a:t>Key</a:t>
            </a:r>
            <a:r>
              <a:rPr sz="2200" spc="-4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C8C2C0"/>
                </a:solidFill>
                <a:latin typeface="Times New Roman"/>
                <a:cs typeface="Times New Roman"/>
              </a:rPr>
              <a:t>Features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417302" y="2677210"/>
            <a:ext cx="3016250" cy="186817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00"/>
              </a:spcBef>
              <a:buChar char="•"/>
              <a:tabLst>
                <a:tab pos="354965" algn="l"/>
              </a:tabLst>
            </a:pP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tweet_text:</a:t>
            </a:r>
            <a:r>
              <a:rPr sz="1750" spc="-5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Full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tweet</a:t>
            </a:r>
            <a:r>
              <a:rPr sz="1750" spc="-2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content</a:t>
            </a:r>
            <a:endParaRPr sz="1750">
              <a:latin typeface="Times New Roman"/>
              <a:cs typeface="Times New Roman"/>
            </a:endParaRPr>
          </a:p>
          <a:p>
            <a:pPr marL="355600" marR="278765" indent="-342900">
              <a:lnSpc>
                <a:spcPct val="138300"/>
              </a:lnSpc>
              <a:buChar char="•"/>
              <a:tabLst>
                <a:tab pos="355600" algn="l"/>
              </a:tabLst>
            </a:pP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product_target:</a:t>
            </a:r>
            <a:r>
              <a:rPr sz="1750" spc="-9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Mentioned product</a:t>
            </a:r>
            <a:endParaRPr sz="17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95"/>
              </a:spcBef>
              <a:buChar char="•"/>
              <a:tabLst>
                <a:tab pos="354965" algn="l"/>
              </a:tabLst>
            </a:pP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sentiment:</a:t>
            </a:r>
            <a:r>
              <a:rPr sz="1750" spc="-3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Labeled</a:t>
            </a:r>
            <a:r>
              <a:rPr sz="1750" spc="-3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sentiment</a:t>
            </a:r>
            <a:endParaRPr sz="175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805"/>
              </a:spcBef>
            </a:pP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class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265164" y="5384291"/>
            <a:ext cx="7586980" cy="1762125"/>
            <a:chOff x="6265164" y="5384291"/>
            <a:chExt cx="7586980" cy="1762125"/>
          </a:xfrm>
        </p:grpSpPr>
        <p:sp>
          <p:nvSpPr>
            <p:cNvPr id="13" name="object 13"/>
            <p:cNvSpPr/>
            <p:nvPr/>
          </p:nvSpPr>
          <p:spPr>
            <a:xfrm>
              <a:off x="6280404" y="5399531"/>
              <a:ext cx="7556500" cy="1731645"/>
            </a:xfrm>
            <a:custGeom>
              <a:avLst/>
              <a:gdLst/>
              <a:ahLst/>
              <a:cxnLst/>
              <a:rect l="l" t="t" r="r" b="b"/>
              <a:pathLst>
                <a:path w="7556500" h="1731645">
                  <a:moveTo>
                    <a:pt x="7521956" y="0"/>
                  </a:moveTo>
                  <a:lnTo>
                    <a:pt x="34036" y="0"/>
                  </a:lnTo>
                  <a:lnTo>
                    <a:pt x="20788" y="2674"/>
                  </a:lnTo>
                  <a:lnTo>
                    <a:pt x="9969" y="9969"/>
                  </a:lnTo>
                  <a:lnTo>
                    <a:pt x="2674" y="20788"/>
                  </a:lnTo>
                  <a:lnTo>
                    <a:pt x="0" y="34036"/>
                  </a:lnTo>
                  <a:lnTo>
                    <a:pt x="0" y="1697228"/>
                  </a:lnTo>
                  <a:lnTo>
                    <a:pt x="2674" y="1710475"/>
                  </a:lnTo>
                  <a:lnTo>
                    <a:pt x="9969" y="1721294"/>
                  </a:lnTo>
                  <a:lnTo>
                    <a:pt x="20788" y="1728589"/>
                  </a:lnTo>
                  <a:lnTo>
                    <a:pt x="34036" y="1731264"/>
                  </a:lnTo>
                  <a:lnTo>
                    <a:pt x="7521956" y="1731264"/>
                  </a:lnTo>
                  <a:lnTo>
                    <a:pt x="7535203" y="1728589"/>
                  </a:lnTo>
                  <a:lnTo>
                    <a:pt x="7546022" y="1721294"/>
                  </a:lnTo>
                  <a:lnTo>
                    <a:pt x="7553317" y="1710475"/>
                  </a:lnTo>
                  <a:lnTo>
                    <a:pt x="7555992" y="1697228"/>
                  </a:lnTo>
                  <a:lnTo>
                    <a:pt x="7555992" y="34036"/>
                  </a:lnTo>
                  <a:lnTo>
                    <a:pt x="7553317" y="20788"/>
                  </a:lnTo>
                  <a:lnTo>
                    <a:pt x="7546022" y="9969"/>
                  </a:lnTo>
                  <a:lnTo>
                    <a:pt x="7535203" y="2674"/>
                  </a:lnTo>
                  <a:lnTo>
                    <a:pt x="7521956" y="0"/>
                  </a:lnTo>
                  <a:close/>
                </a:path>
              </a:pathLst>
            </a:custGeom>
            <a:solidFill>
              <a:srgbClr val="4643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280404" y="5399531"/>
              <a:ext cx="7556500" cy="1731645"/>
            </a:xfrm>
            <a:custGeom>
              <a:avLst/>
              <a:gdLst/>
              <a:ahLst/>
              <a:cxnLst/>
              <a:rect l="l" t="t" r="r" b="b"/>
              <a:pathLst>
                <a:path w="7556500" h="1731645">
                  <a:moveTo>
                    <a:pt x="0" y="34036"/>
                  </a:moveTo>
                  <a:lnTo>
                    <a:pt x="2674" y="20788"/>
                  </a:lnTo>
                  <a:lnTo>
                    <a:pt x="9969" y="9969"/>
                  </a:lnTo>
                  <a:lnTo>
                    <a:pt x="20788" y="2674"/>
                  </a:lnTo>
                  <a:lnTo>
                    <a:pt x="34036" y="0"/>
                  </a:lnTo>
                  <a:lnTo>
                    <a:pt x="7521956" y="0"/>
                  </a:lnTo>
                  <a:lnTo>
                    <a:pt x="7535203" y="2674"/>
                  </a:lnTo>
                  <a:lnTo>
                    <a:pt x="7546022" y="9969"/>
                  </a:lnTo>
                  <a:lnTo>
                    <a:pt x="7553317" y="20788"/>
                  </a:lnTo>
                  <a:lnTo>
                    <a:pt x="7555992" y="34036"/>
                  </a:lnTo>
                  <a:lnTo>
                    <a:pt x="7555992" y="1697228"/>
                  </a:lnTo>
                  <a:lnTo>
                    <a:pt x="7553317" y="1710475"/>
                  </a:lnTo>
                  <a:lnTo>
                    <a:pt x="7546022" y="1721294"/>
                  </a:lnTo>
                  <a:lnTo>
                    <a:pt x="7535203" y="1728589"/>
                  </a:lnTo>
                  <a:lnTo>
                    <a:pt x="7521956" y="1731264"/>
                  </a:lnTo>
                  <a:lnTo>
                    <a:pt x="34036" y="1731264"/>
                  </a:lnTo>
                  <a:lnTo>
                    <a:pt x="20788" y="1728589"/>
                  </a:lnTo>
                  <a:lnTo>
                    <a:pt x="9969" y="1721294"/>
                  </a:lnTo>
                  <a:lnTo>
                    <a:pt x="2674" y="1710475"/>
                  </a:lnTo>
                  <a:lnTo>
                    <a:pt x="0" y="1697228"/>
                  </a:lnTo>
                  <a:lnTo>
                    <a:pt x="0" y="34036"/>
                  </a:lnTo>
                  <a:close/>
                </a:path>
              </a:pathLst>
            </a:custGeom>
            <a:ln w="30480">
              <a:solidFill>
                <a:srgbClr val="504D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525259" y="5632830"/>
            <a:ext cx="6772909" cy="1217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C8C2C0"/>
                </a:solidFill>
                <a:latin typeface="Times New Roman"/>
                <a:cs typeface="Times New Roman"/>
              </a:rPr>
              <a:t>Sentiment</a:t>
            </a:r>
            <a:r>
              <a:rPr sz="2200" spc="-6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C8C2C0"/>
                </a:solidFill>
                <a:latin typeface="Times New Roman"/>
                <a:cs typeface="Times New Roman"/>
              </a:rPr>
              <a:t>Classes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Multiple</a:t>
            </a:r>
            <a:r>
              <a:rPr sz="1750" spc="-3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sentiment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categories:</a:t>
            </a:r>
            <a:r>
              <a:rPr sz="1750" spc="-4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positive,</a:t>
            </a:r>
            <a:r>
              <a:rPr sz="1750" spc="-2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negative,</a:t>
            </a:r>
            <a:r>
              <a:rPr sz="1750" spc="-3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and neutral</a:t>
            </a:r>
            <a:r>
              <a:rPr sz="1750" spc="-2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classifications</a:t>
            </a: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present</a:t>
            </a:r>
            <a:endParaRPr sz="1750">
              <a:latin typeface="Times New Roman"/>
              <a:cs typeface="Times New Roman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5071"/>
            <a:ext cx="6310884" cy="80345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2782" y="674623"/>
            <a:ext cx="5551170" cy="650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00" dirty="0"/>
              <a:t>Exploratory</a:t>
            </a:r>
            <a:r>
              <a:rPr sz="4100" spc="-30" dirty="0"/>
              <a:t> </a:t>
            </a:r>
            <a:r>
              <a:rPr sz="4100" spc="-20" dirty="0"/>
              <a:t>Data</a:t>
            </a:r>
            <a:r>
              <a:rPr sz="4100" spc="-229" dirty="0"/>
              <a:t> </a:t>
            </a:r>
            <a:r>
              <a:rPr sz="4100" spc="-10" dirty="0"/>
              <a:t>Analysis</a:t>
            </a:r>
            <a:endParaRPr sz="4100"/>
          </a:p>
        </p:txBody>
      </p:sp>
      <p:sp>
        <p:nvSpPr>
          <p:cNvPr id="3" name="object 3"/>
          <p:cNvSpPr/>
          <p:nvPr/>
        </p:nvSpPr>
        <p:spPr>
          <a:xfrm>
            <a:off x="736091" y="2468879"/>
            <a:ext cx="472440" cy="472440"/>
          </a:xfrm>
          <a:custGeom>
            <a:avLst/>
            <a:gdLst/>
            <a:ahLst/>
            <a:cxnLst/>
            <a:rect l="l" t="t" r="r" b="b"/>
            <a:pathLst>
              <a:path w="472440" h="472439">
                <a:moveTo>
                  <a:pt x="440944" y="0"/>
                </a:moveTo>
                <a:lnTo>
                  <a:pt x="31495" y="0"/>
                </a:lnTo>
                <a:lnTo>
                  <a:pt x="19234" y="2474"/>
                </a:lnTo>
                <a:lnTo>
                  <a:pt x="9223" y="9223"/>
                </a:lnTo>
                <a:lnTo>
                  <a:pt x="2474" y="19234"/>
                </a:lnTo>
                <a:lnTo>
                  <a:pt x="0" y="31496"/>
                </a:lnTo>
                <a:lnTo>
                  <a:pt x="0" y="440944"/>
                </a:lnTo>
                <a:lnTo>
                  <a:pt x="2474" y="453205"/>
                </a:lnTo>
                <a:lnTo>
                  <a:pt x="9223" y="463216"/>
                </a:lnTo>
                <a:lnTo>
                  <a:pt x="19234" y="469965"/>
                </a:lnTo>
                <a:lnTo>
                  <a:pt x="31495" y="472440"/>
                </a:lnTo>
                <a:lnTo>
                  <a:pt x="440944" y="472440"/>
                </a:lnTo>
                <a:lnTo>
                  <a:pt x="453205" y="469965"/>
                </a:lnTo>
                <a:lnTo>
                  <a:pt x="463216" y="463216"/>
                </a:lnTo>
                <a:lnTo>
                  <a:pt x="469965" y="453205"/>
                </a:lnTo>
                <a:lnTo>
                  <a:pt x="472439" y="440944"/>
                </a:lnTo>
                <a:lnTo>
                  <a:pt x="472439" y="31496"/>
                </a:lnTo>
                <a:lnTo>
                  <a:pt x="469965" y="19234"/>
                </a:lnTo>
                <a:lnTo>
                  <a:pt x="463216" y="9223"/>
                </a:lnTo>
                <a:lnTo>
                  <a:pt x="453205" y="2474"/>
                </a:lnTo>
                <a:lnTo>
                  <a:pt x="440944" y="0"/>
                </a:lnTo>
                <a:close/>
              </a:path>
            </a:pathLst>
          </a:custGeom>
          <a:solidFill>
            <a:srgbClr val="3734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36091" y="4099559"/>
            <a:ext cx="472440" cy="474345"/>
          </a:xfrm>
          <a:custGeom>
            <a:avLst/>
            <a:gdLst/>
            <a:ahLst/>
            <a:cxnLst/>
            <a:rect l="l" t="t" r="r" b="b"/>
            <a:pathLst>
              <a:path w="472440" h="474345">
                <a:moveTo>
                  <a:pt x="440944" y="0"/>
                </a:moveTo>
                <a:lnTo>
                  <a:pt x="31495" y="0"/>
                </a:lnTo>
                <a:lnTo>
                  <a:pt x="19234" y="2474"/>
                </a:lnTo>
                <a:lnTo>
                  <a:pt x="9223" y="9223"/>
                </a:lnTo>
                <a:lnTo>
                  <a:pt x="2474" y="19234"/>
                </a:lnTo>
                <a:lnTo>
                  <a:pt x="0" y="31495"/>
                </a:lnTo>
                <a:lnTo>
                  <a:pt x="0" y="442467"/>
                </a:lnTo>
                <a:lnTo>
                  <a:pt x="2474" y="454729"/>
                </a:lnTo>
                <a:lnTo>
                  <a:pt x="9223" y="464740"/>
                </a:lnTo>
                <a:lnTo>
                  <a:pt x="19234" y="471489"/>
                </a:lnTo>
                <a:lnTo>
                  <a:pt x="31495" y="473963"/>
                </a:lnTo>
                <a:lnTo>
                  <a:pt x="440944" y="473963"/>
                </a:lnTo>
                <a:lnTo>
                  <a:pt x="453205" y="471489"/>
                </a:lnTo>
                <a:lnTo>
                  <a:pt x="463216" y="464740"/>
                </a:lnTo>
                <a:lnTo>
                  <a:pt x="469965" y="454729"/>
                </a:lnTo>
                <a:lnTo>
                  <a:pt x="472439" y="442467"/>
                </a:lnTo>
                <a:lnTo>
                  <a:pt x="472439" y="31495"/>
                </a:lnTo>
                <a:lnTo>
                  <a:pt x="469965" y="19234"/>
                </a:lnTo>
                <a:lnTo>
                  <a:pt x="463216" y="9223"/>
                </a:lnTo>
                <a:lnTo>
                  <a:pt x="453205" y="2474"/>
                </a:lnTo>
                <a:lnTo>
                  <a:pt x="440944" y="0"/>
                </a:lnTo>
                <a:close/>
              </a:path>
            </a:pathLst>
          </a:custGeom>
          <a:solidFill>
            <a:srgbClr val="3734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36091" y="5731764"/>
            <a:ext cx="472440" cy="472440"/>
          </a:xfrm>
          <a:custGeom>
            <a:avLst/>
            <a:gdLst/>
            <a:ahLst/>
            <a:cxnLst/>
            <a:rect l="l" t="t" r="r" b="b"/>
            <a:pathLst>
              <a:path w="472440" h="472439">
                <a:moveTo>
                  <a:pt x="440944" y="0"/>
                </a:moveTo>
                <a:lnTo>
                  <a:pt x="31495" y="0"/>
                </a:lnTo>
                <a:lnTo>
                  <a:pt x="19234" y="2474"/>
                </a:lnTo>
                <a:lnTo>
                  <a:pt x="9223" y="9223"/>
                </a:lnTo>
                <a:lnTo>
                  <a:pt x="2474" y="19234"/>
                </a:lnTo>
                <a:lnTo>
                  <a:pt x="0" y="31496"/>
                </a:lnTo>
                <a:lnTo>
                  <a:pt x="0" y="440944"/>
                </a:lnTo>
                <a:lnTo>
                  <a:pt x="2474" y="453205"/>
                </a:lnTo>
                <a:lnTo>
                  <a:pt x="9223" y="463216"/>
                </a:lnTo>
                <a:lnTo>
                  <a:pt x="19234" y="469965"/>
                </a:lnTo>
                <a:lnTo>
                  <a:pt x="31495" y="472440"/>
                </a:lnTo>
                <a:lnTo>
                  <a:pt x="440944" y="472440"/>
                </a:lnTo>
                <a:lnTo>
                  <a:pt x="453205" y="469965"/>
                </a:lnTo>
                <a:lnTo>
                  <a:pt x="463216" y="463216"/>
                </a:lnTo>
                <a:lnTo>
                  <a:pt x="469965" y="453205"/>
                </a:lnTo>
                <a:lnTo>
                  <a:pt x="472439" y="440944"/>
                </a:lnTo>
                <a:lnTo>
                  <a:pt x="472439" y="31496"/>
                </a:lnTo>
                <a:lnTo>
                  <a:pt x="469965" y="19234"/>
                </a:lnTo>
                <a:lnTo>
                  <a:pt x="463216" y="9223"/>
                </a:lnTo>
                <a:lnTo>
                  <a:pt x="453205" y="2474"/>
                </a:lnTo>
                <a:lnTo>
                  <a:pt x="440944" y="0"/>
                </a:lnTo>
                <a:close/>
              </a:path>
            </a:pathLst>
          </a:custGeom>
          <a:solidFill>
            <a:srgbClr val="3734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2782" y="1827987"/>
            <a:ext cx="4076065" cy="5111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50" dirty="0">
                <a:solidFill>
                  <a:srgbClr val="D7B6A3"/>
                </a:solidFill>
                <a:latin typeface="Times New Roman"/>
                <a:cs typeface="Times New Roman"/>
              </a:rPr>
              <a:t>Key</a:t>
            </a:r>
            <a:r>
              <a:rPr sz="2450" spc="-40" dirty="0">
                <a:solidFill>
                  <a:srgbClr val="D7B6A3"/>
                </a:solidFill>
                <a:latin typeface="Times New Roman"/>
                <a:cs typeface="Times New Roman"/>
              </a:rPr>
              <a:t> </a:t>
            </a:r>
            <a:r>
              <a:rPr sz="2450" spc="-10" dirty="0">
                <a:solidFill>
                  <a:srgbClr val="D7B6A3"/>
                </a:solidFill>
                <a:latin typeface="Times New Roman"/>
                <a:cs typeface="Times New Roman"/>
              </a:rPr>
              <a:t>Findings</a:t>
            </a:r>
            <a:endParaRPr sz="2450">
              <a:latin typeface="Times New Roman"/>
              <a:cs typeface="Times New Roman"/>
            </a:endParaRPr>
          </a:p>
          <a:p>
            <a:pPr marL="679450">
              <a:lnSpc>
                <a:spcPct val="100000"/>
              </a:lnSpc>
              <a:spcBef>
                <a:spcPts val="2480"/>
              </a:spcBef>
            </a:pPr>
            <a:r>
              <a:rPr sz="2050" dirty="0">
                <a:solidFill>
                  <a:srgbClr val="C8C2C0"/>
                </a:solidFill>
                <a:latin typeface="Times New Roman"/>
                <a:cs typeface="Times New Roman"/>
              </a:rPr>
              <a:t>Sentiment</a:t>
            </a:r>
            <a:r>
              <a:rPr sz="2050" spc="-8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2050" spc="-10" dirty="0">
                <a:solidFill>
                  <a:srgbClr val="C8C2C0"/>
                </a:solidFill>
                <a:latin typeface="Times New Roman"/>
                <a:cs typeface="Times New Roman"/>
              </a:rPr>
              <a:t>Distribution</a:t>
            </a:r>
            <a:endParaRPr sz="2050">
              <a:latin typeface="Times New Roman"/>
              <a:cs typeface="Times New Roman"/>
            </a:endParaRPr>
          </a:p>
          <a:p>
            <a:pPr marL="679450">
              <a:lnSpc>
                <a:spcPct val="100000"/>
              </a:lnSpc>
              <a:spcBef>
                <a:spcPts val="1975"/>
              </a:spcBef>
            </a:pPr>
            <a:r>
              <a:rPr sz="1650" dirty="0">
                <a:solidFill>
                  <a:srgbClr val="C8C2C0"/>
                </a:solidFill>
                <a:latin typeface="Times New Roman"/>
                <a:cs typeface="Times New Roman"/>
              </a:rPr>
              <a:t>Analyzed</a:t>
            </a:r>
            <a:r>
              <a:rPr sz="1650" spc="-1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C8C2C0"/>
                </a:solidFill>
                <a:latin typeface="Times New Roman"/>
                <a:cs typeface="Times New Roman"/>
              </a:rPr>
              <a:t>frequency</a:t>
            </a:r>
            <a:r>
              <a:rPr sz="1650" spc="-1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C8C2C0"/>
                </a:solidFill>
                <a:latin typeface="Times New Roman"/>
                <a:cs typeface="Times New Roman"/>
              </a:rPr>
              <a:t>of</a:t>
            </a:r>
            <a:r>
              <a:rPr sz="1650" spc="-3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C8C2C0"/>
                </a:solidFill>
                <a:latin typeface="Times New Roman"/>
                <a:cs typeface="Times New Roman"/>
              </a:rPr>
              <a:t>each</a:t>
            </a:r>
            <a:r>
              <a:rPr sz="1650" spc="-2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C8C2C0"/>
                </a:solidFill>
                <a:latin typeface="Times New Roman"/>
                <a:cs typeface="Times New Roman"/>
              </a:rPr>
              <a:t>sentiment</a:t>
            </a:r>
            <a:endParaRPr sz="1650">
              <a:latin typeface="Times New Roman"/>
              <a:cs typeface="Times New Roman"/>
            </a:endParaRPr>
          </a:p>
          <a:p>
            <a:pPr marL="679450">
              <a:lnSpc>
                <a:spcPct val="100000"/>
              </a:lnSpc>
              <a:spcBef>
                <a:spcPts val="525"/>
              </a:spcBef>
            </a:pPr>
            <a:r>
              <a:rPr sz="1650" dirty="0">
                <a:solidFill>
                  <a:srgbClr val="C8C2C0"/>
                </a:solidFill>
                <a:latin typeface="Times New Roman"/>
                <a:cs typeface="Times New Roman"/>
              </a:rPr>
              <a:t>class</a:t>
            </a:r>
            <a:r>
              <a:rPr sz="1650" spc="-2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C8C2C0"/>
                </a:solidFill>
                <a:latin typeface="Times New Roman"/>
                <a:cs typeface="Times New Roman"/>
              </a:rPr>
              <a:t>across</a:t>
            </a:r>
            <a:r>
              <a:rPr sz="1650" spc="-3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C8C2C0"/>
                </a:solidFill>
                <a:latin typeface="Times New Roman"/>
                <a:cs typeface="Times New Roman"/>
              </a:rPr>
              <a:t>the</a:t>
            </a:r>
            <a:r>
              <a:rPr sz="1650" spc="-2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C8C2C0"/>
                </a:solidFill>
                <a:latin typeface="Times New Roman"/>
                <a:cs typeface="Times New Roman"/>
              </a:rPr>
              <a:t>dataset</a:t>
            </a: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650">
              <a:latin typeface="Times New Roman"/>
              <a:cs typeface="Times New Roman"/>
            </a:endParaRPr>
          </a:p>
          <a:p>
            <a:pPr marL="679450">
              <a:lnSpc>
                <a:spcPct val="100000"/>
              </a:lnSpc>
            </a:pPr>
            <a:r>
              <a:rPr sz="2050" dirty="0">
                <a:solidFill>
                  <a:srgbClr val="C8C2C0"/>
                </a:solidFill>
                <a:latin typeface="Times New Roman"/>
                <a:cs typeface="Times New Roman"/>
              </a:rPr>
              <a:t>Class</a:t>
            </a:r>
            <a:r>
              <a:rPr sz="2050" spc="-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2050" spc="-10" dirty="0">
                <a:solidFill>
                  <a:srgbClr val="C8C2C0"/>
                </a:solidFill>
                <a:latin typeface="Times New Roman"/>
                <a:cs typeface="Times New Roman"/>
              </a:rPr>
              <a:t>Imbalance</a:t>
            </a:r>
            <a:endParaRPr sz="2050">
              <a:latin typeface="Times New Roman"/>
              <a:cs typeface="Times New Roman"/>
            </a:endParaRPr>
          </a:p>
          <a:p>
            <a:pPr marL="679450" marR="91440">
              <a:lnSpc>
                <a:spcPct val="126699"/>
              </a:lnSpc>
              <a:spcBef>
                <a:spcPts val="1445"/>
              </a:spcBef>
            </a:pPr>
            <a:r>
              <a:rPr sz="1650" dirty="0">
                <a:solidFill>
                  <a:srgbClr val="C8C2C0"/>
                </a:solidFill>
                <a:latin typeface="Times New Roman"/>
                <a:cs typeface="Times New Roman"/>
              </a:rPr>
              <a:t>Identified</a:t>
            </a:r>
            <a:r>
              <a:rPr sz="1650" spc="-5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C8C2C0"/>
                </a:solidFill>
                <a:latin typeface="Times New Roman"/>
                <a:cs typeface="Times New Roman"/>
              </a:rPr>
              <a:t>significant</a:t>
            </a:r>
            <a:r>
              <a:rPr sz="1650" spc="-6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C8C2C0"/>
                </a:solidFill>
                <a:latin typeface="Times New Roman"/>
                <a:cs typeface="Times New Roman"/>
              </a:rPr>
              <a:t>imbalance</a:t>
            </a:r>
            <a:r>
              <a:rPr sz="1650" spc="-4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C8C2C0"/>
                </a:solidFill>
                <a:latin typeface="Times New Roman"/>
                <a:cs typeface="Times New Roman"/>
              </a:rPr>
              <a:t>among </a:t>
            </a:r>
            <a:r>
              <a:rPr sz="1650" dirty="0">
                <a:solidFill>
                  <a:srgbClr val="C8C2C0"/>
                </a:solidFill>
                <a:latin typeface="Times New Roman"/>
                <a:cs typeface="Times New Roman"/>
              </a:rPr>
              <a:t>sentiment</a:t>
            </a:r>
            <a:r>
              <a:rPr sz="1650" spc="-3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C8C2C0"/>
                </a:solidFill>
                <a:latin typeface="Times New Roman"/>
                <a:cs typeface="Times New Roman"/>
              </a:rPr>
              <a:t>categories</a:t>
            </a: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650">
              <a:latin typeface="Times New Roman"/>
              <a:cs typeface="Times New Roman"/>
            </a:endParaRPr>
          </a:p>
          <a:p>
            <a:pPr marL="679450">
              <a:lnSpc>
                <a:spcPct val="100000"/>
              </a:lnSpc>
              <a:spcBef>
                <a:spcPts val="5"/>
              </a:spcBef>
            </a:pPr>
            <a:r>
              <a:rPr sz="2050" dirty="0">
                <a:solidFill>
                  <a:srgbClr val="C8C2C0"/>
                </a:solidFill>
                <a:latin typeface="Times New Roman"/>
                <a:cs typeface="Times New Roman"/>
              </a:rPr>
              <a:t>Positive</a:t>
            </a:r>
            <a:r>
              <a:rPr sz="2050" spc="-4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2050" spc="-10" dirty="0">
                <a:solidFill>
                  <a:srgbClr val="C8C2C0"/>
                </a:solidFill>
                <a:latin typeface="Times New Roman"/>
                <a:cs typeface="Times New Roman"/>
              </a:rPr>
              <a:t>Dominance</a:t>
            </a:r>
            <a:endParaRPr sz="2050">
              <a:latin typeface="Times New Roman"/>
              <a:cs typeface="Times New Roman"/>
            </a:endParaRPr>
          </a:p>
          <a:p>
            <a:pPr marL="679450" marR="5080">
              <a:lnSpc>
                <a:spcPct val="126699"/>
              </a:lnSpc>
              <a:spcBef>
                <a:spcPts val="1445"/>
              </a:spcBef>
            </a:pPr>
            <a:r>
              <a:rPr sz="1650" dirty="0">
                <a:solidFill>
                  <a:srgbClr val="C8C2C0"/>
                </a:solidFill>
                <a:latin typeface="Times New Roman"/>
                <a:cs typeface="Times New Roman"/>
              </a:rPr>
              <a:t>Positive</a:t>
            </a:r>
            <a:r>
              <a:rPr sz="1650" spc="-6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C8C2C0"/>
                </a:solidFill>
                <a:latin typeface="Times New Roman"/>
                <a:cs typeface="Times New Roman"/>
              </a:rPr>
              <a:t>sentiment</a:t>
            </a:r>
            <a:r>
              <a:rPr sz="1650" spc="-2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C8C2C0"/>
                </a:solidFill>
                <a:latin typeface="Times New Roman"/>
                <a:cs typeface="Times New Roman"/>
              </a:rPr>
              <a:t>substantially </a:t>
            </a:r>
            <a:r>
              <a:rPr sz="1650" dirty="0">
                <a:solidFill>
                  <a:srgbClr val="C8C2C0"/>
                </a:solidFill>
                <a:latin typeface="Times New Roman"/>
                <a:cs typeface="Times New Roman"/>
              </a:rPr>
              <a:t>outnumbers</a:t>
            </a:r>
            <a:r>
              <a:rPr sz="1650" spc="-2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C8C2C0"/>
                </a:solidFill>
                <a:latin typeface="Times New Roman"/>
                <a:cs typeface="Times New Roman"/>
              </a:rPr>
              <a:t>negative</a:t>
            </a:r>
            <a:r>
              <a:rPr sz="1650" spc="-2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C8C2C0"/>
                </a:solidFill>
                <a:latin typeface="Times New Roman"/>
                <a:cs typeface="Times New Roman"/>
              </a:rPr>
              <a:t>and</a:t>
            </a:r>
            <a:r>
              <a:rPr sz="1650" spc="-2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C8C2C0"/>
                </a:solidFill>
                <a:latin typeface="Times New Roman"/>
                <a:cs typeface="Times New Roman"/>
              </a:rPr>
              <a:t>neutral</a:t>
            </a:r>
            <a:r>
              <a:rPr sz="1650" spc="-2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C8C2C0"/>
                </a:solidFill>
                <a:latin typeface="Times New Roman"/>
                <a:cs typeface="Times New Roman"/>
              </a:rPr>
              <a:t>classes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6907" y="2357627"/>
            <a:ext cx="5201411" cy="39578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6569" y="540461"/>
            <a:ext cx="5617845" cy="628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50" spc="-25" dirty="0"/>
              <a:t>Text</a:t>
            </a:r>
            <a:r>
              <a:rPr sz="3950" spc="-110" dirty="0"/>
              <a:t> </a:t>
            </a:r>
            <a:r>
              <a:rPr sz="3950" dirty="0"/>
              <a:t>Preprocessing</a:t>
            </a:r>
            <a:r>
              <a:rPr sz="3950" spc="-105" dirty="0"/>
              <a:t> </a:t>
            </a:r>
            <a:r>
              <a:rPr sz="3950" spc="-10" dirty="0"/>
              <a:t>Pipeline</a:t>
            </a:r>
            <a:endParaRPr sz="39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659" y="1572767"/>
            <a:ext cx="1013460" cy="607923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890776" y="1752346"/>
            <a:ext cx="4335145" cy="559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spc="-10" dirty="0">
                <a:solidFill>
                  <a:srgbClr val="C8C2C0"/>
                </a:solidFill>
                <a:latin typeface="Times New Roman"/>
                <a:cs typeface="Times New Roman"/>
              </a:rPr>
              <a:t>Normalization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sz="1550" dirty="0">
                <a:solidFill>
                  <a:srgbClr val="C8C2C0"/>
                </a:solidFill>
                <a:latin typeface="Times New Roman"/>
                <a:cs typeface="Times New Roman"/>
              </a:rPr>
              <a:t>Convert</a:t>
            </a:r>
            <a:r>
              <a:rPr sz="1550" spc="-3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C8C2C0"/>
                </a:solidFill>
                <a:latin typeface="Times New Roman"/>
                <a:cs typeface="Times New Roman"/>
              </a:rPr>
              <a:t>all</a:t>
            </a:r>
            <a:r>
              <a:rPr sz="1550" spc="-3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C8C2C0"/>
                </a:solidFill>
                <a:latin typeface="Times New Roman"/>
                <a:cs typeface="Times New Roman"/>
              </a:rPr>
              <a:t>text</a:t>
            </a:r>
            <a:r>
              <a:rPr sz="1550" spc="-3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C8C2C0"/>
                </a:solidFill>
                <a:latin typeface="Times New Roman"/>
                <a:cs typeface="Times New Roman"/>
              </a:rPr>
              <a:t>to</a:t>
            </a:r>
            <a:r>
              <a:rPr sz="1550" spc="-1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C8C2C0"/>
                </a:solidFill>
                <a:latin typeface="Times New Roman"/>
                <a:cs typeface="Times New Roman"/>
              </a:rPr>
              <a:t>lowercase</a:t>
            </a:r>
            <a:r>
              <a:rPr sz="1550" spc="-1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C8C2C0"/>
                </a:solidFill>
                <a:latin typeface="Times New Roman"/>
                <a:cs typeface="Times New Roman"/>
              </a:rPr>
              <a:t>for</a:t>
            </a:r>
            <a:r>
              <a:rPr sz="1550" spc="-2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C8C2C0"/>
                </a:solidFill>
                <a:latin typeface="Times New Roman"/>
                <a:cs typeface="Times New Roman"/>
              </a:rPr>
              <a:t>consistency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50" spc="-10" dirty="0">
                <a:solidFill>
                  <a:srgbClr val="C8C2C0"/>
                </a:solidFill>
                <a:latin typeface="Times New Roman"/>
                <a:cs typeface="Times New Roman"/>
              </a:rPr>
              <a:t>Cleaning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sz="1550" dirty="0">
                <a:solidFill>
                  <a:srgbClr val="C8C2C0"/>
                </a:solidFill>
                <a:latin typeface="Times New Roman"/>
                <a:cs typeface="Times New Roman"/>
              </a:rPr>
              <a:t>Remove</a:t>
            </a:r>
            <a:r>
              <a:rPr sz="1550" spc="-1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C8C2C0"/>
                </a:solidFill>
                <a:latin typeface="Times New Roman"/>
                <a:cs typeface="Times New Roman"/>
              </a:rPr>
              <a:t>punctuation,</a:t>
            </a:r>
            <a:r>
              <a:rPr sz="1550" spc="-6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C8C2C0"/>
                </a:solidFill>
                <a:latin typeface="Times New Roman"/>
                <a:cs typeface="Times New Roman"/>
              </a:rPr>
              <a:t>numbers,</a:t>
            </a:r>
            <a:r>
              <a:rPr sz="1550" spc="-1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C8C2C0"/>
                </a:solidFill>
                <a:latin typeface="Times New Roman"/>
                <a:cs typeface="Times New Roman"/>
              </a:rPr>
              <a:t>and</a:t>
            </a:r>
            <a:r>
              <a:rPr sz="1550" spc="-2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C8C2C0"/>
                </a:solidFill>
                <a:latin typeface="Times New Roman"/>
                <a:cs typeface="Times New Roman"/>
              </a:rPr>
              <a:t>special</a:t>
            </a:r>
            <a:r>
              <a:rPr sz="1550" spc="-4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C8C2C0"/>
                </a:solidFill>
                <a:latin typeface="Times New Roman"/>
                <a:cs typeface="Times New Roman"/>
              </a:rPr>
              <a:t>characters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50" dirty="0">
                <a:solidFill>
                  <a:srgbClr val="C8C2C0"/>
                </a:solidFill>
                <a:latin typeface="Times New Roman"/>
                <a:cs typeface="Times New Roman"/>
              </a:rPr>
              <a:t>Stopword</a:t>
            </a:r>
            <a:r>
              <a:rPr sz="1950" spc="-4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950" spc="-10" dirty="0">
                <a:solidFill>
                  <a:srgbClr val="C8C2C0"/>
                </a:solidFill>
                <a:latin typeface="Times New Roman"/>
                <a:cs typeface="Times New Roman"/>
              </a:rPr>
              <a:t>Removal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sz="1550" dirty="0">
                <a:solidFill>
                  <a:srgbClr val="C8C2C0"/>
                </a:solidFill>
                <a:latin typeface="Times New Roman"/>
                <a:cs typeface="Times New Roman"/>
              </a:rPr>
              <a:t>Filter</a:t>
            </a:r>
            <a:r>
              <a:rPr sz="1550" spc="-6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C8C2C0"/>
                </a:solidFill>
                <a:latin typeface="Times New Roman"/>
                <a:cs typeface="Times New Roman"/>
              </a:rPr>
              <a:t>out</a:t>
            </a:r>
            <a:r>
              <a:rPr sz="1550" spc="-4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C8C2C0"/>
                </a:solidFill>
                <a:latin typeface="Times New Roman"/>
                <a:cs typeface="Times New Roman"/>
              </a:rPr>
              <a:t>common</a:t>
            </a:r>
            <a:r>
              <a:rPr sz="1550" spc="1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C8C2C0"/>
                </a:solidFill>
                <a:latin typeface="Times New Roman"/>
                <a:cs typeface="Times New Roman"/>
              </a:rPr>
              <a:t>words</a:t>
            </a:r>
            <a:r>
              <a:rPr sz="1550" spc="-4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C8C2C0"/>
                </a:solidFill>
                <a:latin typeface="Times New Roman"/>
                <a:cs typeface="Times New Roman"/>
              </a:rPr>
              <a:t>with</a:t>
            </a:r>
            <a:r>
              <a:rPr sz="1550" spc="-4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C8C2C0"/>
                </a:solidFill>
                <a:latin typeface="Times New Roman"/>
                <a:cs typeface="Times New Roman"/>
              </a:rPr>
              <a:t>minimal</a:t>
            </a:r>
            <a:r>
              <a:rPr sz="1550" spc="-1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C8C2C0"/>
                </a:solidFill>
                <a:latin typeface="Times New Roman"/>
                <a:cs typeface="Times New Roman"/>
              </a:rPr>
              <a:t>semantic</a:t>
            </a:r>
            <a:r>
              <a:rPr sz="1550" spc="-2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C8C2C0"/>
                </a:solidFill>
                <a:latin typeface="Times New Roman"/>
                <a:cs typeface="Times New Roman"/>
              </a:rPr>
              <a:t>value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50" spc="-10" dirty="0">
                <a:solidFill>
                  <a:srgbClr val="C8C2C0"/>
                </a:solidFill>
                <a:latin typeface="Times New Roman"/>
                <a:cs typeface="Times New Roman"/>
              </a:rPr>
              <a:t>Tokenization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sz="1550" dirty="0">
                <a:solidFill>
                  <a:srgbClr val="C8C2C0"/>
                </a:solidFill>
                <a:latin typeface="Times New Roman"/>
                <a:cs typeface="Times New Roman"/>
              </a:rPr>
              <a:t>Split</a:t>
            </a:r>
            <a:r>
              <a:rPr sz="1550" spc="-3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C8C2C0"/>
                </a:solidFill>
                <a:latin typeface="Times New Roman"/>
                <a:cs typeface="Times New Roman"/>
              </a:rPr>
              <a:t>text</a:t>
            </a:r>
            <a:r>
              <a:rPr sz="1550" spc="-2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C8C2C0"/>
                </a:solidFill>
                <a:latin typeface="Times New Roman"/>
                <a:cs typeface="Times New Roman"/>
              </a:rPr>
              <a:t>into</a:t>
            </a:r>
            <a:r>
              <a:rPr sz="1550" spc="-3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C8C2C0"/>
                </a:solidFill>
                <a:latin typeface="Times New Roman"/>
                <a:cs typeface="Times New Roman"/>
              </a:rPr>
              <a:t>individual</a:t>
            </a:r>
            <a:r>
              <a:rPr sz="1550" spc="-5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C8C2C0"/>
                </a:solidFill>
                <a:latin typeface="Times New Roman"/>
                <a:cs typeface="Times New Roman"/>
              </a:rPr>
              <a:t>words</a:t>
            </a:r>
            <a:r>
              <a:rPr sz="1550" spc="-2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C8C2C0"/>
                </a:solidFill>
                <a:latin typeface="Times New Roman"/>
                <a:cs typeface="Times New Roman"/>
              </a:rPr>
              <a:t>or</a:t>
            </a:r>
            <a:r>
              <a:rPr sz="1550" spc="-10" dirty="0">
                <a:solidFill>
                  <a:srgbClr val="C8C2C0"/>
                </a:solidFill>
                <a:latin typeface="Times New Roman"/>
                <a:cs typeface="Times New Roman"/>
              </a:rPr>
              <a:t> tokens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50" spc="-10" dirty="0">
                <a:solidFill>
                  <a:srgbClr val="C8C2C0"/>
                </a:solidFill>
                <a:latin typeface="Times New Roman"/>
                <a:cs typeface="Times New Roman"/>
              </a:rPr>
              <a:t>Lemmatization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sz="1550" dirty="0">
                <a:solidFill>
                  <a:srgbClr val="C8C2C0"/>
                </a:solidFill>
                <a:latin typeface="Times New Roman"/>
                <a:cs typeface="Times New Roman"/>
              </a:rPr>
              <a:t>Reduce</a:t>
            </a:r>
            <a:r>
              <a:rPr sz="1550" spc="-2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C8C2C0"/>
                </a:solidFill>
                <a:latin typeface="Times New Roman"/>
                <a:cs typeface="Times New Roman"/>
              </a:rPr>
              <a:t>words</a:t>
            </a:r>
            <a:r>
              <a:rPr sz="1550" spc="-3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C8C2C0"/>
                </a:solidFill>
                <a:latin typeface="Times New Roman"/>
                <a:cs typeface="Times New Roman"/>
              </a:rPr>
              <a:t>to</a:t>
            </a:r>
            <a:r>
              <a:rPr sz="1550" spc="-2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C8C2C0"/>
                </a:solidFill>
                <a:latin typeface="Times New Roman"/>
                <a:cs typeface="Times New Roman"/>
              </a:rPr>
              <a:t>their</a:t>
            </a:r>
            <a:r>
              <a:rPr sz="1550" spc="-3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C8C2C0"/>
                </a:solidFill>
                <a:latin typeface="Times New Roman"/>
                <a:cs typeface="Times New Roman"/>
              </a:rPr>
              <a:t>base</a:t>
            </a:r>
            <a:r>
              <a:rPr sz="1550" spc="-3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C8C2C0"/>
                </a:solidFill>
                <a:latin typeface="Times New Roman"/>
                <a:cs typeface="Times New Roman"/>
              </a:rPr>
              <a:t>dictionary</a:t>
            </a:r>
            <a:r>
              <a:rPr sz="1550" spc="-5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550" spc="-20" dirty="0">
                <a:solidFill>
                  <a:srgbClr val="C8C2C0"/>
                </a:solidFill>
                <a:latin typeface="Times New Roman"/>
                <a:cs typeface="Times New Roman"/>
              </a:rPr>
              <a:t>form</a:t>
            </a:r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4139" rIns="0" bIns="0" rtlCol="0">
            <a:spAutoFit/>
          </a:bodyPr>
          <a:lstStyle/>
          <a:p>
            <a:pPr marL="29209" marR="5080">
              <a:lnSpc>
                <a:spcPts val="5100"/>
              </a:lnSpc>
            </a:pPr>
            <a:r>
              <a:rPr sz="4050" dirty="0"/>
              <a:t>Feature</a:t>
            </a:r>
            <a:r>
              <a:rPr sz="4050" spc="-30" dirty="0"/>
              <a:t> </a:t>
            </a:r>
            <a:r>
              <a:rPr sz="4050" dirty="0"/>
              <a:t>Engineering:</a:t>
            </a:r>
            <a:r>
              <a:rPr sz="4050" spc="-105" dirty="0"/>
              <a:t> </a:t>
            </a:r>
            <a:r>
              <a:rPr sz="4050" dirty="0"/>
              <a:t>TF-</a:t>
            </a:r>
            <a:r>
              <a:rPr sz="4050" spc="-25" dirty="0"/>
              <a:t>IDF </a:t>
            </a:r>
            <a:r>
              <a:rPr sz="4050" spc="-10" dirty="0"/>
              <a:t>Vectorization</a:t>
            </a:r>
            <a:endParaRPr sz="4050"/>
          </a:p>
        </p:txBody>
      </p:sp>
      <p:sp>
        <p:nvSpPr>
          <p:cNvPr id="3" name="object 3"/>
          <p:cNvSpPr txBox="1"/>
          <p:nvPr/>
        </p:nvSpPr>
        <p:spPr>
          <a:xfrm>
            <a:off x="713333" y="2935351"/>
            <a:ext cx="16687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D7B6A3"/>
                </a:solidFill>
                <a:latin typeface="Times New Roman"/>
                <a:cs typeface="Times New Roman"/>
              </a:rPr>
              <a:t>Methodology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3333" y="3482134"/>
            <a:ext cx="3359785" cy="320294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90"/>
              </a:spcBef>
              <a:buChar char="•"/>
              <a:tabLst>
                <a:tab pos="354965" algn="l"/>
              </a:tabLst>
            </a:pPr>
            <a:r>
              <a:rPr sz="1600" spc="-10" dirty="0">
                <a:solidFill>
                  <a:srgbClr val="C8C2C0"/>
                </a:solidFill>
                <a:latin typeface="Times New Roman"/>
                <a:cs typeface="Times New Roman"/>
              </a:rPr>
              <a:t>Term</a:t>
            </a:r>
            <a:r>
              <a:rPr sz="1600" spc="-5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C8C2C0"/>
                </a:solidFill>
                <a:latin typeface="Times New Roman"/>
                <a:cs typeface="Times New Roman"/>
              </a:rPr>
              <a:t>Frequency-</a:t>
            </a:r>
            <a:r>
              <a:rPr sz="1600" dirty="0">
                <a:solidFill>
                  <a:srgbClr val="C8C2C0"/>
                </a:solidFill>
                <a:latin typeface="Times New Roman"/>
                <a:cs typeface="Times New Roman"/>
              </a:rPr>
              <a:t>Inverse</a:t>
            </a:r>
            <a:r>
              <a:rPr sz="1600" spc="-4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C8C2C0"/>
                </a:solidFill>
                <a:latin typeface="Times New Roman"/>
                <a:cs typeface="Times New Roman"/>
              </a:rPr>
              <a:t>Document</a:t>
            </a:r>
            <a:endParaRPr sz="16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90"/>
              </a:spcBef>
            </a:pPr>
            <a:r>
              <a:rPr sz="1600" dirty="0">
                <a:solidFill>
                  <a:srgbClr val="C8C2C0"/>
                </a:solidFill>
                <a:latin typeface="Times New Roman"/>
                <a:cs typeface="Times New Roman"/>
              </a:rPr>
              <a:t>Frequency</a:t>
            </a:r>
            <a:r>
              <a:rPr sz="1600" spc="-5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C8C2C0"/>
                </a:solidFill>
                <a:latin typeface="Times New Roman"/>
                <a:cs typeface="Times New Roman"/>
              </a:rPr>
              <a:t>technique</a:t>
            </a:r>
            <a:endParaRPr sz="1600">
              <a:latin typeface="Times New Roman"/>
              <a:cs typeface="Times New Roman"/>
            </a:endParaRPr>
          </a:p>
          <a:p>
            <a:pPr marL="355600" marR="605790" indent="-342900">
              <a:lnSpc>
                <a:spcPct val="130000"/>
              </a:lnSpc>
              <a:buChar char="•"/>
              <a:tabLst>
                <a:tab pos="355600" algn="l"/>
              </a:tabLst>
            </a:pPr>
            <a:r>
              <a:rPr sz="1600" dirty="0">
                <a:solidFill>
                  <a:srgbClr val="C8C2C0"/>
                </a:solidFill>
                <a:latin typeface="Times New Roman"/>
                <a:cs typeface="Times New Roman"/>
              </a:rPr>
              <a:t>Converts</a:t>
            </a:r>
            <a:r>
              <a:rPr sz="1600" spc="-5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8C2C0"/>
                </a:solidFill>
                <a:latin typeface="Times New Roman"/>
                <a:cs typeface="Times New Roman"/>
              </a:rPr>
              <a:t>text</a:t>
            </a:r>
            <a:r>
              <a:rPr sz="1600" spc="-5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8C2C0"/>
                </a:solidFill>
                <a:latin typeface="Times New Roman"/>
                <a:cs typeface="Times New Roman"/>
              </a:rPr>
              <a:t>documents</a:t>
            </a:r>
            <a:r>
              <a:rPr sz="1600" spc="-1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C8C2C0"/>
                </a:solidFill>
                <a:latin typeface="Times New Roman"/>
                <a:cs typeface="Times New Roman"/>
              </a:rPr>
              <a:t>into </a:t>
            </a:r>
            <a:r>
              <a:rPr sz="1600" dirty="0">
                <a:solidFill>
                  <a:srgbClr val="C8C2C0"/>
                </a:solidFill>
                <a:latin typeface="Times New Roman"/>
                <a:cs typeface="Times New Roman"/>
              </a:rPr>
              <a:t>numerical</a:t>
            </a:r>
            <a:r>
              <a:rPr sz="1600" spc="-2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8C2C0"/>
                </a:solidFill>
                <a:latin typeface="Times New Roman"/>
                <a:cs typeface="Times New Roman"/>
              </a:rPr>
              <a:t>feature</a:t>
            </a:r>
            <a:r>
              <a:rPr sz="1600" spc="-5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C8C2C0"/>
                </a:solidFill>
                <a:latin typeface="Times New Roman"/>
                <a:cs typeface="Times New Roman"/>
              </a:rPr>
              <a:t>vectors</a:t>
            </a:r>
            <a:endParaRPr sz="1600">
              <a:latin typeface="Times New Roman"/>
              <a:cs typeface="Times New Roman"/>
            </a:endParaRPr>
          </a:p>
          <a:p>
            <a:pPr marL="355600" marR="398780" indent="-342900">
              <a:lnSpc>
                <a:spcPct val="130000"/>
              </a:lnSpc>
              <a:spcBef>
                <a:spcPts val="15"/>
              </a:spcBef>
              <a:buChar char="•"/>
              <a:tabLst>
                <a:tab pos="355600" algn="l"/>
              </a:tabLst>
            </a:pPr>
            <a:r>
              <a:rPr sz="1600" spc="-20" dirty="0">
                <a:solidFill>
                  <a:srgbClr val="C8C2C0"/>
                </a:solidFill>
                <a:latin typeface="Times New Roman"/>
                <a:cs typeface="Times New Roman"/>
              </a:rPr>
              <a:t>Weights</a:t>
            </a:r>
            <a:r>
              <a:rPr sz="1600" spc="-4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8C2C0"/>
                </a:solidFill>
                <a:latin typeface="Times New Roman"/>
                <a:cs typeface="Times New Roman"/>
              </a:rPr>
              <a:t>terms by</a:t>
            </a:r>
            <a:r>
              <a:rPr sz="1600" spc="-6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8C2C0"/>
                </a:solidFill>
                <a:latin typeface="Times New Roman"/>
                <a:cs typeface="Times New Roman"/>
              </a:rPr>
              <a:t>importance</a:t>
            </a:r>
            <a:r>
              <a:rPr sz="1600" spc="-1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C8C2C0"/>
                </a:solidFill>
                <a:latin typeface="Times New Roman"/>
                <a:cs typeface="Times New Roman"/>
              </a:rPr>
              <a:t>in </a:t>
            </a:r>
            <a:r>
              <a:rPr sz="1600" dirty="0">
                <a:solidFill>
                  <a:srgbClr val="C8C2C0"/>
                </a:solidFill>
                <a:latin typeface="Times New Roman"/>
                <a:cs typeface="Times New Roman"/>
              </a:rPr>
              <a:t>document</a:t>
            </a:r>
            <a:r>
              <a:rPr sz="1600" spc="-3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8C2C0"/>
                </a:solidFill>
                <a:latin typeface="Times New Roman"/>
                <a:cs typeface="Times New Roman"/>
              </a:rPr>
              <a:t>vs.</a:t>
            </a:r>
            <a:r>
              <a:rPr sz="1600" spc="-5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C8C2C0"/>
                </a:solidFill>
                <a:latin typeface="Times New Roman"/>
                <a:cs typeface="Times New Roman"/>
              </a:rPr>
              <a:t>corpus</a:t>
            </a:r>
            <a:endParaRPr sz="1600">
              <a:latin typeface="Times New Roman"/>
              <a:cs typeface="Times New Roman"/>
            </a:endParaRPr>
          </a:p>
          <a:p>
            <a:pPr marL="355600" marR="140970" indent="-342900">
              <a:lnSpc>
                <a:spcPts val="2510"/>
              </a:lnSpc>
              <a:spcBef>
                <a:spcPts val="170"/>
              </a:spcBef>
              <a:buChar char="•"/>
              <a:tabLst>
                <a:tab pos="355600" algn="l"/>
              </a:tabLst>
            </a:pPr>
            <a:r>
              <a:rPr sz="1600" dirty="0">
                <a:solidFill>
                  <a:srgbClr val="C8C2C0"/>
                </a:solidFill>
                <a:latin typeface="Times New Roman"/>
                <a:cs typeface="Times New Roman"/>
              </a:rPr>
              <a:t>Higher</a:t>
            </a:r>
            <a:r>
              <a:rPr sz="1600" spc="-4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8C2C0"/>
                </a:solidFill>
                <a:latin typeface="Times New Roman"/>
                <a:cs typeface="Times New Roman"/>
              </a:rPr>
              <a:t>scores</a:t>
            </a:r>
            <a:r>
              <a:rPr sz="1600" spc="-3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8C2C0"/>
                </a:solidFill>
                <a:latin typeface="Times New Roman"/>
                <a:cs typeface="Times New Roman"/>
              </a:rPr>
              <a:t>for</a:t>
            </a:r>
            <a:r>
              <a:rPr sz="1600" spc="-5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8C2C0"/>
                </a:solidFill>
                <a:latin typeface="Times New Roman"/>
                <a:cs typeface="Times New Roman"/>
              </a:rPr>
              <a:t>terms</a:t>
            </a:r>
            <a:r>
              <a:rPr sz="1600" spc="1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8C2C0"/>
                </a:solidFill>
                <a:latin typeface="Times New Roman"/>
                <a:cs typeface="Times New Roman"/>
              </a:rPr>
              <a:t>frequent</a:t>
            </a:r>
            <a:r>
              <a:rPr sz="1600" spc="-4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C8C2C0"/>
                </a:solidFill>
                <a:latin typeface="Times New Roman"/>
                <a:cs typeface="Times New Roman"/>
              </a:rPr>
              <a:t>in </a:t>
            </a:r>
            <a:r>
              <a:rPr sz="1600" dirty="0">
                <a:solidFill>
                  <a:srgbClr val="C8C2C0"/>
                </a:solidFill>
                <a:latin typeface="Times New Roman"/>
                <a:cs typeface="Times New Roman"/>
              </a:rPr>
              <a:t>document</a:t>
            </a:r>
            <a:r>
              <a:rPr sz="1600" spc="-3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8C2C0"/>
                </a:solidFill>
                <a:latin typeface="Times New Roman"/>
                <a:cs typeface="Times New Roman"/>
              </a:rPr>
              <a:t>but</a:t>
            </a:r>
            <a:r>
              <a:rPr sz="1600" spc="-4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8C2C0"/>
                </a:solidFill>
                <a:latin typeface="Times New Roman"/>
                <a:cs typeface="Times New Roman"/>
              </a:rPr>
              <a:t>rare</a:t>
            </a:r>
            <a:r>
              <a:rPr sz="1600" spc="-4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C8C2C0"/>
                </a:solidFill>
                <a:latin typeface="Times New Roman"/>
                <a:cs typeface="Times New Roman"/>
              </a:rPr>
              <a:t>overall</a:t>
            </a:r>
            <a:endParaRPr sz="16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390"/>
              </a:spcBef>
              <a:buChar char="•"/>
              <a:tabLst>
                <a:tab pos="354965" algn="l"/>
              </a:tabLst>
            </a:pPr>
            <a:r>
              <a:rPr sz="1600" dirty="0">
                <a:solidFill>
                  <a:srgbClr val="C8C2C0"/>
                </a:solidFill>
                <a:latin typeface="Times New Roman"/>
                <a:cs typeface="Times New Roman"/>
              </a:rPr>
              <a:t>Preserves</a:t>
            </a:r>
            <a:r>
              <a:rPr sz="1600" spc="-5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8C2C0"/>
                </a:solidFill>
                <a:latin typeface="Times New Roman"/>
                <a:cs typeface="Times New Roman"/>
              </a:rPr>
              <a:t>semantic</a:t>
            </a:r>
            <a:r>
              <a:rPr sz="1600" spc="-3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8C2C0"/>
                </a:solidFill>
                <a:latin typeface="Times New Roman"/>
                <a:cs typeface="Times New Roman"/>
              </a:rPr>
              <a:t>meaning</a:t>
            </a:r>
            <a:r>
              <a:rPr sz="1600" spc="-4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C8C2C0"/>
                </a:solidFill>
                <a:latin typeface="Times New Roman"/>
                <a:cs typeface="Times New Roman"/>
              </a:rPr>
              <a:t>through</a:t>
            </a:r>
            <a:endParaRPr sz="16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80"/>
              </a:spcBef>
            </a:pPr>
            <a:r>
              <a:rPr sz="1600" dirty="0">
                <a:solidFill>
                  <a:srgbClr val="C8C2C0"/>
                </a:solidFill>
                <a:latin typeface="Times New Roman"/>
                <a:cs typeface="Times New Roman"/>
              </a:rPr>
              <a:t>weighted</a:t>
            </a:r>
            <a:r>
              <a:rPr sz="1600" spc="-5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C8C2C0"/>
                </a:solidFill>
                <a:latin typeface="Times New Roman"/>
                <a:cs typeface="Times New Roman"/>
              </a:rPr>
              <a:t>representation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83252" y="2767583"/>
            <a:ext cx="3892550" cy="4276725"/>
          </a:xfrm>
          <a:custGeom>
            <a:avLst/>
            <a:gdLst/>
            <a:ahLst/>
            <a:cxnLst/>
            <a:rect l="l" t="t" r="r" b="b"/>
            <a:pathLst>
              <a:path w="3892550" h="4276725">
                <a:moveTo>
                  <a:pt x="3861180" y="0"/>
                </a:moveTo>
                <a:lnTo>
                  <a:pt x="31114" y="0"/>
                </a:lnTo>
                <a:lnTo>
                  <a:pt x="19020" y="2450"/>
                </a:lnTo>
                <a:lnTo>
                  <a:pt x="9128" y="9128"/>
                </a:lnTo>
                <a:lnTo>
                  <a:pt x="2450" y="19020"/>
                </a:lnTo>
                <a:lnTo>
                  <a:pt x="0" y="31114"/>
                </a:lnTo>
                <a:lnTo>
                  <a:pt x="0" y="4245203"/>
                </a:lnTo>
                <a:lnTo>
                  <a:pt x="2450" y="4257323"/>
                </a:lnTo>
                <a:lnTo>
                  <a:pt x="9128" y="4267222"/>
                </a:lnTo>
                <a:lnTo>
                  <a:pt x="19020" y="4273896"/>
                </a:lnTo>
                <a:lnTo>
                  <a:pt x="31114" y="4276344"/>
                </a:lnTo>
                <a:lnTo>
                  <a:pt x="3861180" y="4276344"/>
                </a:lnTo>
                <a:lnTo>
                  <a:pt x="3873275" y="4273896"/>
                </a:lnTo>
                <a:lnTo>
                  <a:pt x="3883167" y="4267222"/>
                </a:lnTo>
                <a:lnTo>
                  <a:pt x="3889845" y="4257323"/>
                </a:lnTo>
                <a:lnTo>
                  <a:pt x="3892296" y="4245203"/>
                </a:lnTo>
                <a:lnTo>
                  <a:pt x="3892296" y="31114"/>
                </a:lnTo>
                <a:lnTo>
                  <a:pt x="3889845" y="19020"/>
                </a:lnTo>
                <a:lnTo>
                  <a:pt x="3883167" y="9128"/>
                </a:lnTo>
                <a:lnTo>
                  <a:pt x="3873275" y="2450"/>
                </a:lnTo>
                <a:lnTo>
                  <a:pt x="3861180" y="0"/>
                </a:lnTo>
                <a:close/>
              </a:path>
            </a:pathLst>
          </a:custGeom>
          <a:solidFill>
            <a:srgbClr val="C49F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878451" y="2938399"/>
            <a:ext cx="16306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Times New Roman"/>
                <a:cs typeface="Times New Roman"/>
              </a:rPr>
              <a:t>Implementation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8451" y="3418103"/>
            <a:ext cx="3209290" cy="1296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30200"/>
              </a:lnSpc>
              <a:spcBef>
                <a:spcPts val="105"/>
              </a:spcBef>
            </a:pPr>
            <a:r>
              <a:rPr sz="1600" spc="-20" dirty="0">
                <a:latin typeface="Times New Roman"/>
                <a:cs typeface="Times New Roman"/>
              </a:rPr>
              <a:t>Text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transformed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into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high- </a:t>
            </a:r>
            <a:r>
              <a:rPr sz="1600" dirty="0">
                <a:latin typeface="Times New Roman"/>
                <a:cs typeface="Times New Roman"/>
              </a:rPr>
              <a:t>dimensional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numerical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vectors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suitable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ML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algorithms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while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maintaining </a:t>
            </a:r>
            <a:r>
              <a:rPr sz="1600" dirty="0">
                <a:latin typeface="Times New Roman"/>
                <a:cs typeface="Times New Roman"/>
              </a:rPr>
              <a:t>word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importance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signals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95"/>
              </a:spcBef>
            </a:pPr>
            <a:r>
              <a:rPr sz="4300" dirty="0"/>
              <a:t>Machine</a:t>
            </a:r>
            <a:r>
              <a:rPr sz="4300" spc="-130" dirty="0"/>
              <a:t> </a:t>
            </a:r>
            <a:r>
              <a:rPr sz="4300" dirty="0"/>
              <a:t>Learning</a:t>
            </a:r>
            <a:r>
              <a:rPr sz="4300" spc="-135" dirty="0"/>
              <a:t> </a:t>
            </a:r>
            <a:r>
              <a:rPr sz="4300" spc="-10" dirty="0"/>
              <a:t>Models</a:t>
            </a:r>
            <a:endParaRPr sz="43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19" y="1719072"/>
            <a:ext cx="4186428" cy="418642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57529" y="6091250"/>
            <a:ext cx="3877310" cy="1156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dirty="0">
                <a:solidFill>
                  <a:srgbClr val="C8C2C0"/>
                </a:solidFill>
                <a:latin typeface="Times New Roman"/>
                <a:cs typeface="Times New Roman"/>
              </a:rPr>
              <a:t>Multinomial</a:t>
            </a:r>
            <a:r>
              <a:rPr sz="2150" spc="-6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C8C2C0"/>
                </a:solidFill>
                <a:latin typeface="Times New Roman"/>
                <a:cs typeface="Times New Roman"/>
              </a:rPr>
              <a:t>Naive</a:t>
            </a:r>
            <a:r>
              <a:rPr sz="2150" spc="-6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2150" spc="-20" dirty="0">
                <a:solidFill>
                  <a:srgbClr val="C8C2C0"/>
                </a:solidFill>
                <a:latin typeface="Times New Roman"/>
                <a:cs typeface="Times New Roman"/>
              </a:rPr>
              <a:t>Bayes</a:t>
            </a:r>
            <a:endParaRPr sz="2150">
              <a:latin typeface="Times New Roman"/>
              <a:cs typeface="Times New Roman"/>
            </a:endParaRPr>
          </a:p>
          <a:p>
            <a:pPr marL="12700" marR="5080">
              <a:lnSpc>
                <a:spcPct val="132500"/>
              </a:lnSpc>
              <a:spcBef>
                <a:spcPts val="919"/>
              </a:spcBef>
            </a:pPr>
            <a:r>
              <a:rPr sz="1700" dirty="0">
                <a:solidFill>
                  <a:srgbClr val="C8C2C0"/>
                </a:solidFill>
                <a:latin typeface="Times New Roman"/>
                <a:cs typeface="Times New Roman"/>
              </a:rPr>
              <a:t>Baseline</a:t>
            </a:r>
            <a:r>
              <a:rPr sz="1700" spc="-5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C8C2C0"/>
                </a:solidFill>
                <a:latin typeface="Times New Roman"/>
                <a:cs typeface="Times New Roman"/>
              </a:rPr>
              <a:t>probabilistic</a:t>
            </a:r>
            <a:r>
              <a:rPr sz="1700" spc="-3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C8C2C0"/>
                </a:solidFill>
                <a:latin typeface="Times New Roman"/>
                <a:cs typeface="Times New Roman"/>
              </a:rPr>
              <a:t>classifier</a:t>
            </a:r>
            <a:r>
              <a:rPr sz="1700" spc="-4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C8C2C0"/>
                </a:solidFill>
                <a:latin typeface="Times New Roman"/>
                <a:cs typeface="Times New Roman"/>
              </a:rPr>
              <a:t>using</a:t>
            </a:r>
            <a:r>
              <a:rPr sz="1700" spc="-5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C8C2C0"/>
                </a:solidFill>
                <a:latin typeface="Times New Roman"/>
                <a:cs typeface="Times New Roman"/>
              </a:rPr>
              <a:t>Bayes' </a:t>
            </a:r>
            <a:r>
              <a:rPr sz="1700" dirty="0">
                <a:solidFill>
                  <a:srgbClr val="C8C2C0"/>
                </a:solidFill>
                <a:latin typeface="Times New Roman"/>
                <a:cs typeface="Times New Roman"/>
              </a:rPr>
              <a:t>theorem</a:t>
            </a:r>
            <a:r>
              <a:rPr sz="1700" spc="-1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C8C2C0"/>
                </a:solidFill>
                <a:latin typeface="Times New Roman"/>
                <a:cs typeface="Times New Roman"/>
              </a:rPr>
              <a:t>with</a:t>
            </a:r>
            <a:r>
              <a:rPr sz="1700" spc="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C8C2C0"/>
                </a:solidFill>
                <a:latin typeface="Times New Roman"/>
                <a:cs typeface="Times New Roman"/>
              </a:rPr>
              <a:t>frequency-</a:t>
            </a:r>
            <a:r>
              <a:rPr sz="1700" dirty="0">
                <a:solidFill>
                  <a:srgbClr val="C8C2C0"/>
                </a:solidFill>
                <a:latin typeface="Times New Roman"/>
                <a:cs typeface="Times New Roman"/>
              </a:rPr>
              <a:t>based</a:t>
            </a:r>
            <a:r>
              <a:rPr sz="1700" spc="-2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C8C2C0"/>
                </a:solidFill>
                <a:latin typeface="Times New Roman"/>
                <a:cs typeface="Times New Roman"/>
              </a:rPr>
              <a:t>features</a:t>
            </a:r>
            <a:endParaRPr sz="17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22747" y="1719072"/>
            <a:ext cx="4184904" cy="418642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210302" y="6091250"/>
            <a:ext cx="4103370" cy="1156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dirty="0">
                <a:solidFill>
                  <a:srgbClr val="C8C2C0"/>
                </a:solidFill>
                <a:latin typeface="Times New Roman"/>
                <a:cs typeface="Times New Roman"/>
              </a:rPr>
              <a:t>Random</a:t>
            </a:r>
            <a:r>
              <a:rPr sz="2150" spc="-4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2150" spc="-10" dirty="0">
                <a:solidFill>
                  <a:srgbClr val="C8C2C0"/>
                </a:solidFill>
                <a:latin typeface="Times New Roman"/>
                <a:cs typeface="Times New Roman"/>
              </a:rPr>
              <a:t>Forest</a:t>
            </a:r>
            <a:endParaRPr sz="2150">
              <a:latin typeface="Times New Roman"/>
              <a:cs typeface="Times New Roman"/>
            </a:endParaRPr>
          </a:p>
          <a:p>
            <a:pPr marL="12700" marR="5080">
              <a:lnSpc>
                <a:spcPct val="132500"/>
              </a:lnSpc>
              <a:spcBef>
                <a:spcPts val="919"/>
              </a:spcBef>
            </a:pPr>
            <a:r>
              <a:rPr sz="1700" dirty="0">
                <a:solidFill>
                  <a:srgbClr val="C8C2C0"/>
                </a:solidFill>
                <a:latin typeface="Times New Roman"/>
                <a:cs typeface="Times New Roman"/>
              </a:rPr>
              <a:t>Ensemble</a:t>
            </a:r>
            <a:r>
              <a:rPr sz="1700" spc="-4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C8C2C0"/>
                </a:solidFill>
                <a:latin typeface="Times New Roman"/>
                <a:cs typeface="Times New Roman"/>
              </a:rPr>
              <a:t>method</a:t>
            </a:r>
            <a:r>
              <a:rPr sz="1700" spc="-4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C8C2C0"/>
                </a:solidFill>
                <a:latin typeface="Times New Roman"/>
                <a:cs typeface="Times New Roman"/>
              </a:rPr>
              <a:t>combining</a:t>
            </a:r>
            <a:r>
              <a:rPr sz="1700" spc="-3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C8C2C0"/>
                </a:solidFill>
                <a:latin typeface="Times New Roman"/>
                <a:cs typeface="Times New Roman"/>
              </a:rPr>
              <a:t>multiple</a:t>
            </a:r>
            <a:r>
              <a:rPr sz="1700" spc="-1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C8C2C0"/>
                </a:solidFill>
                <a:latin typeface="Times New Roman"/>
                <a:cs typeface="Times New Roman"/>
              </a:rPr>
              <a:t>decision </a:t>
            </a:r>
            <a:r>
              <a:rPr sz="1700" dirty="0">
                <a:solidFill>
                  <a:srgbClr val="C8C2C0"/>
                </a:solidFill>
                <a:latin typeface="Times New Roman"/>
                <a:cs typeface="Times New Roman"/>
              </a:rPr>
              <a:t>trees</a:t>
            </a:r>
            <a:r>
              <a:rPr sz="1700" spc="-2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C8C2C0"/>
                </a:solidFill>
                <a:latin typeface="Times New Roman"/>
                <a:cs typeface="Times New Roman"/>
              </a:rPr>
              <a:t>for</a:t>
            </a:r>
            <a:r>
              <a:rPr sz="1700" spc="-2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C8C2C0"/>
                </a:solidFill>
                <a:latin typeface="Times New Roman"/>
                <a:cs typeface="Times New Roman"/>
              </a:rPr>
              <a:t>improved</a:t>
            </a:r>
            <a:r>
              <a:rPr sz="1700" spc="-2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C8C2C0"/>
                </a:solidFill>
                <a:latin typeface="Times New Roman"/>
                <a:cs typeface="Times New Roman"/>
              </a:rPr>
              <a:t>accuracy</a:t>
            </a:r>
            <a:r>
              <a:rPr sz="1700" spc="-4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C8C2C0"/>
                </a:solidFill>
                <a:latin typeface="Times New Roman"/>
                <a:cs typeface="Times New Roman"/>
              </a:rPr>
              <a:t>and</a:t>
            </a:r>
            <a:r>
              <a:rPr sz="1700" spc="-3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C8C2C0"/>
                </a:solidFill>
                <a:latin typeface="Times New Roman"/>
                <a:cs typeface="Times New Roman"/>
              </a:rPr>
              <a:t>robustness</a:t>
            </a:r>
            <a:endParaRPr sz="17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74352" y="1719072"/>
            <a:ext cx="4186428" cy="418642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662921" y="6091250"/>
            <a:ext cx="3930650" cy="1156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10" dirty="0">
                <a:solidFill>
                  <a:srgbClr val="C8C2C0"/>
                </a:solidFill>
                <a:latin typeface="Times New Roman"/>
                <a:cs typeface="Times New Roman"/>
              </a:rPr>
              <a:t>XGBoost</a:t>
            </a:r>
            <a:endParaRPr sz="2150">
              <a:latin typeface="Times New Roman"/>
              <a:cs typeface="Times New Roman"/>
            </a:endParaRPr>
          </a:p>
          <a:p>
            <a:pPr marL="12700" marR="5080">
              <a:lnSpc>
                <a:spcPct val="132500"/>
              </a:lnSpc>
              <a:spcBef>
                <a:spcPts val="919"/>
              </a:spcBef>
            </a:pPr>
            <a:r>
              <a:rPr sz="1700" dirty="0">
                <a:solidFill>
                  <a:srgbClr val="C8C2C0"/>
                </a:solidFill>
                <a:latin typeface="Times New Roman"/>
                <a:cs typeface="Times New Roman"/>
              </a:rPr>
              <a:t>Gradient</a:t>
            </a:r>
            <a:r>
              <a:rPr sz="1700" spc="-5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C8C2C0"/>
                </a:solidFill>
                <a:latin typeface="Times New Roman"/>
                <a:cs typeface="Times New Roman"/>
              </a:rPr>
              <a:t>boosting</a:t>
            </a:r>
            <a:r>
              <a:rPr sz="1700" spc="-1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C8C2C0"/>
                </a:solidFill>
                <a:latin typeface="Times New Roman"/>
                <a:cs typeface="Times New Roman"/>
              </a:rPr>
              <a:t>framework</a:t>
            </a:r>
            <a:r>
              <a:rPr sz="1700" spc="-6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C8C2C0"/>
                </a:solidFill>
                <a:latin typeface="Times New Roman"/>
                <a:cs typeface="Times New Roman"/>
              </a:rPr>
              <a:t>with</a:t>
            </a:r>
            <a:r>
              <a:rPr sz="1700" spc="-1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C8C2C0"/>
                </a:solidFill>
                <a:latin typeface="Times New Roman"/>
                <a:cs typeface="Times New Roman"/>
              </a:rPr>
              <a:t>optimized tree-</a:t>
            </a:r>
            <a:r>
              <a:rPr sz="1700" dirty="0">
                <a:solidFill>
                  <a:srgbClr val="C8C2C0"/>
                </a:solidFill>
                <a:latin typeface="Times New Roman"/>
                <a:cs typeface="Times New Roman"/>
              </a:rPr>
              <a:t>based</a:t>
            </a:r>
            <a:r>
              <a:rPr sz="1700" spc="-2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C8C2C0"/>
                </a:solidFill>
                <a:latin typeface="Times New Roman"/>
                <a:cs typeface="Times New Roman"/>
              </a:rPr>
              <a:t>models</a:t>
            </a:r>
            <a:r>
              <a:rPr sz="1700" spc="-1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C8C2C0"/>
                </a:solidFill>
                <a:latin typeface="Times New Roman"/>
                <a:cs typeface="Times New Roman"/>
              </a:rPr>
              <a:t>for</a:t>
            </a:r>
            <a:r>
              <a:rPr sz="1700" spc="-1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C8C2C0"/>
                </a:solidFill>
                <a:latin typeface="Times New Roman"/>
                <a:cs typeface="Times New Roman"/>
              </a:rPr>
              <a:t>enhanced</a:t>
            </a:r>
            <a:r>
              <a:rPr sz="1700" spc="-3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C8C2C0"/>
                </a:solidFill>
                <a:latin typeface="Times New Roman"/>
                <a:cs typeface="Times New Roman"/>
              </a:rPr>
              <a:t>performance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304" y="1641729"/>
            <a:ext cx="710692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Model</a:t>
            </a:r>
            <a:r>
              <a:rPr spc="-175" dirty="0"/>
              <a:t> </a:t>
            </a:r>
            <a:r>
              <a:rPr dirty="0"/>
              <a:t>Training</a:t>
            </a:r>
            <a:r>
              <a:rPr spc="-110" dirty="0"/>
              <a:t> </a:t>
            </a:r>
            <a:r>
              <a:rPr dirty="0"/>
              <a:t>and</a:t>
            </a:r>
            <a:r>
              <a:rPr spc="-95" dirty="0"/>
              <a:t> </a:t>
            </a:r>
            <a:r>
              <a:rPr spc="-10" dirty="0"/>
              <a:t>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1304" y="2889630"/>
            <a:ext cx="27241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solidFill>
                  <a:srgbClr val="C8C2C0"/>
                </a:solidFill>
                <a:latin typeface="Arial MT"/>
                <a:cs typeface="Arial MT"/>
              </a:rPr>
              <a:t>01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94004" y="3203448"/>
            <a:ext cx="4196080" cy="30480"/>
          </a:xfrm>
          <a:custGeom>
            <a:avLst/>
            <a:gdLst/>
            <a:ahLst/>
            <a:cxnLst/>
            <a:rect l="l" t="t" r="r" b="b"/>
            <a:pathLst>
              <a:path w="4196080" h="30480">
                <a:moveTo>
                  <a:pt x="4195572" y="0"/>
                </a:moveTo>
                <a:lnTo>
                  <a:pt x="0" y="0"/>
                </a:lnTo>
                <a:lnTo>
                  <a:pt x="0" y="30479"/>
                </a:lnTo>
                <a:lnTo>
                  <a:pt x="4195572" y="30479"/>
                </a:lnTo>
                <a:lnTo>
                  <a:pt x="4195572" y="0"/>
                </a:lnTo>
                <a:close/>
              </a:path>
            </a:pathLst>
          </a:custGeom>
          <a:solidFill>
            <a:srgbClr val="C49F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81304" y="3353561"/>
            <a:ext cx="3975100" cy="1217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C8C2C0"/>
                </a:solidFill>
                <a:latin typeface="Times New Roman"/>
                <a:cs typeface="Times New Roman"/>
              </a:rPr>
              <a:t>Data</a:t>
            </a:r>
            <a:r>
              <a:rPr sz="2200" spc="-4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C8C2C0"/>
                </a:solidFill>
                <a:latin typeface="Times New Roman"/>
                <a:cs typeface="Times New Roman"/>
              </a:rPr>
              <a:t>Splitting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38300"/>
              </a:lnSpc>
              <a:spcBef>
                <a:spcPts val="940"/>
              </a:spcBef>
            </a:pP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Divided</a:t>
            </a:r>
            <a:r>
              <a:rPr sz="1750" spc="-2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dataset</a:t>
            </a:r>
            <a:r>
              <a:rPr sz="1750" spc="-2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into</a:t>
            </a:r>
            <a:r>
              <a:rPr sz="1750" spc="-2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training</a:t>
            </a:r>
            <a:r>
              <a:rPr sz="1750" spc="-2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and testing</a:t>
            </a:r>
            <a:r>
              <a:rPr sz="1750" spc="-3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20" dirty="0">
                <a:solidFill>
                  <a:srgbClr val="C8C2C0"/>
                </a:solidFill>
                <a:latin typeface="Times New Roman"/>
                <a:cs typeface="Times New Roman"/>
              </a:rPr>
              <a:t>sets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for</a:t>
            </a:r>
            <a:r>
              <a:rPr sz="1750" spc="-2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model</a:t>
            </a:r>
            <a:r>
              <a:rPr sz="1750" spc="-2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validation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04840" y="2889630"/>
            <a:ext cx="27241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solidFill>
                  <a:srgbClr val="C8C2C0"/>
                </a:solidFill>
                <a:latin typeface="Arial MT"/>
                <a:cs typeface="Arial MT"/>
              </a:rPr>
              <a:t>02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16652" y="3203448"/>
            <a:ext cx="4197350" cy="30480"/>
          </a:xfrm>
          <a:custGeom>
            <a:avLst/>
            <a:gdLst/>
            <a:ahLst/>
            <a:cxnLst/>
            <a:rect l="l" t="t" r="r" b="b"/>
            <a:pathLst>
              <a:path w="4197350" h="30480">
                <a:moveTo>
                  <a:pt x="4197096" y="0"/>
                </a:moveTo>
                <a:lnTo>
                  <a:pt x="0" y="0"/>
                </a:lnTo>
                <a:lnTo>
                  <a:pt x="0" y="30479"/>
                </a:lnTo>
                <a:lnTo>
                  <a:pt x="4197096" y="30479"/>
                </a:lnTo>
                <a:lnTo>
                  <a:pt x="4197096" y="0"/>
                </a:lnTo>
                <a:close/>
              </a:path>
            </a:pathLst>
          </a:custGeom>
          <a:solidFill>
            <a:srgbClr val="C49F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204840" y="3353561"/>
            <a:ext cx="3784600" cy="1217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C8C2C0"/>
                </a:solidFill>
                <a:latin typeface="Times New Roman"/>
                <a:cs typeface="Times New Roman"/>
              </a:rPr>
              <a:t>Hyperparameter</a:t>
            </a:r>
            <a:r>
              <a:rPr sz="2200" spc="-2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C8C2C0"/>
                </a:solidFill>
                <a:latin typeface="Times New Roman"/>
                <a:cs typeface="Times New Roman"/>
              </a:rPr>
              <a:t>Tuning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38300"/>
              </a:lnSpc>
              <a:spcBef>
                <a:spcPts val="940"/>
              </a:spcBef>
            </a:pP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Applied</a:t>
            </a:r>
            <a:r>
              <a:rPr sz="1750" spc="-2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GridSearchCV</a:t>
            </a:r>
            <a:r>
              <a:rPr sz="1750" spc="-5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to</a:t>
            </a:r>
            <a:r>
              <a:rPr sz="1750" spc="-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optimize 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model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parameters</a:t>
            </a:r>
            <a:r>
              <a:rPr sz="1750" spc="-5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systematically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28378" y="2889630"/>
            <a:ext cx="27241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solidFill>
                  <a:srgbClr val="C8C2C0"/>
                </a:solidFill>
                <a:latin typeface="Arial MT"/>
                <a:cs typeface="Arial MT"/>
              </a:rPr>
              <a:t>03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640823" y="3203448"/>
            <a:ext cx="4196080" cy="30480"/>
          </a:xfrm>
          <a:custGeom>
            <a:avLst/>
            <a:gdLst/>
            <a:ahLst/>
            <a:cxnLst/>
            <a:rect l="l" t="t" r="r" b="b"/>
            <a:pathLst>
              <a:path w="4196080" h="30480">
                <a:moveTo>
                  <a:pt x="4195572" y="0"/>
                </a:moveTo>
                <a:lnTo>
                  <a:pt x="0" y="0"/>
                </a:lnTo>
                <a:lnTo>
                  <a:pt x="0" y="30479"/>
                </a:lnTo>
                <a:lnTo>
                  <a:pt x="4195572" y="30479"/>
                </a:lnTo>
                <a:lnTo>
                  <a:pt x="4195572" y="0"/>
                </a:lnTo>
                <a:close/>
              </a:path>
            </a:pathLst>
          </a:custGeom>
          <a:solidFill>
            <a:srgbClr val="C49F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628378" y="3353561"/>
            <a:ext cx="4193540" cy="1217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C8C2C0"/>
                </a:solidFill>
                <a:latin typeface="Times New Roman"/>
                <a:cs typeface="Times New Roman"/>
              </a:rPr>
              <a:t>Performance</a:t>
            </a:r>
            <a:r>
              <a:rPr sz="2200" spc="-10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C8C2C0"/>
                </a:solidFill>
                <a:latin typeface="Times New Roman"/>
                <a:cs typeface="Times New Roman"/>
              </a:rPr>
              <a:t>Metrics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38300"/>
              </a:lnSpc>
              <a:spcBef>
                <a:spcPts val="940"/>
              </a:spcBef>
            </a:pP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Evaluated</a:t>
            </a:r>
            <a:r>
              <a:rPr sz="1750" spc="-2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using</a:t>
            </a:r>
            <a:r>
              <a:rPr sz="1750" spc="-1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precision,</a:t>
            </a:r>
            <a:r>
              <a:rPr sz="1750" spc="-3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recall,</a:t>
            </a:r>
            <a:r>
              <a:rPr sz="1750" spc="-2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and 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F1-score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across</a:t>
            </a:r>
            <a:r>
              <a:rPr sz="1750" spc="-3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all</a:t>
            </a:r>
            <a:r>
              <a:rPr sz="1750" spc="-2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sentiment</a:t>
            </a:r>
            <a:r>
              <a:rPr sz="1750" spc="-2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classes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1304" y="5032070"/>
            <a:ext cx="272415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spc="-25" dirty="0">
                <a:solidFill>
                  <a:srgbClr val="C8C2C0"/>
                </a:solidFill>
                <a:latin typeface="Arial MT"/>
                <a:cs typeface="Arial MT"/>
              </a:rPr>
              <a:t>04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94004" y="5346191"/>
            <a:ext cx="6408420" cy="30480"/>
          </a:xfrm>
          <a:custGeom>
            <a:avLst/>
            <a:gdLst/>
            <a:ahLst/>
            <a:cxnLst/>
            <a:rect l="l" t="t" r="r" b="b"/>
            <a:pathLst>
              <a:path w="6408420" h="30479">
                <a:moveTo>
                  <a:pt x="6408420" y="0"/>
                </a:moveTo>
                <a:lnTo>
                  <a:pt x="0" y="0"/>
                </a:lnTo>
                <a:lnTo>
                  <a:pt x="0" y="30479"/>
                </a:lnTo>
                <a:lnTo>
                  <a:pt x="6408420" y="30479"/>
                </a:lnTo>
                <a:lnTo>
                  <a:pt x="6408420" y="0"/>
                </a:lnTo>
                <a:close/>
              </a:path>
            </a:pathLst>
          </a:custGeom>
          <a:solidFill>
            <a:srgbClr val="C49F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81304" y="5496559"/>
            <a:ext cx="5361940" cy="8489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C8C2C0"/>
                </a:solidFill>
                <a:latin typeface="Times New Roman"/>
                <a:cs typeface="Times New Roman"/>
              </a:rPr>
              <a:t>Confusion</a:t>
            </a:r>
            <a:r>
              <a:rPr sz="2200" spc="-10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C8C2C0"/>
                </a:solidFill>
                <a:latin typeface="Times New Roman"/>
                <a:cs typeface="Times New Roman"/>
              </a:rPr>
              <a:t>Matrix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Analyzed</a:t>
            </a:r>
            <a:r>
              <a:rPr sz="1750" spc="-2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classification</a:t>
            </a:r>
            <a:r>
              <a:rPr sz="1750" spc="-6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errors</a:t>
            </a:r>
            <a:r>
              <a:rPr sz="1750" spc="-4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and</a:t>
            </a:r>
            <a:r>
              <a:rPr sz="1750" spc="-2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misclassification</a:t>
            </a:r>
            <a:r>
              <a:rPr sz="1750" spc="-5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patterns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16545" y="5032070"/>
            <a:ext cx="272415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spc="-25" dirty="0">
                <a:solidFill>
                  <a:srgbClr val="C8C2C0"/>
                </a:solidFill>
                <a:latin typeface="Arial MT"/>
                <a:cs typeface="Arial MT"/>
              </a:rPr>
              <a:t>05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427976" y="5346191"/>
            <a:ext cx="6408420" cy="30480"/>
          </a:xfrm>
          <a:custGeom>
            <a:avLst/>
            <a:gdLst/>
            <a:ahLst/>
            <a:cxnLst/>
            <a:rect l="l" t="t" r="r" b="b"/>
            <a:pathLst>
              <a:path w="6408419" h="30479">
                <a:moveTo>
                  <a:pt x="6408420" y="0"/>
                </a:moveTo>
                <a:lnTo>
                  <a:pt x="0" y="0"/>
                </a:lnTo>
                <a:lnTo>
                  <a:pt x="0" y="30479"/>
                </a:lnTo>
                <a:lnTo>
                  <a:pt x="6408420" y="30479"/>
                </a:lnTo>
                <a:lnTo>
                  <a:pt x="6408420" y="0"/>
                </a:lnTo>
                <a:close/>
              </a:path>
            </a:pathLst>
          </a:custGeom>
          <a:solidFill>
            <a:srgbClr val="C49F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416545" y="5496559"/>
            <a:ext cx="5185410" cy="8489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C8C2C0"/>
                </a:solidFill>
                <a:latin typeface="Times New Roman"/>
                <a:cs typeface="Times New Roman"/>
              </a:rPr>
              <a:t>Class</a:t>
            </a:r>
            <a:r>
              <a:rPr sz="2200" spc="-10" dirty="0">
                <a:solidFill>
                  <a:srgbClr val="C8C2C0"/>
                </a:solidFill>
                <a:latin typeface="Times New Roman"/>
                <a:cs typeface="Times New Roman"/>
              </a:rPr>
              <a:t> Imbalance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Accounted</a:t>
            </a:r>
            <a:r>
              <a:rPr sz="1750" spc="-3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for uneven</a:t>
            </a:r>
            <a:r>
              <a:rPr sz="1750" spc="-2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class</a:t>
            </a:r>
            <a:r>
              <a:rPr sz="1750" spc="-3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distribution</a:t>
            </a:r>
            <a:r>
              <a:rPr sz="1750" spc="-4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during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 evaluation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5731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1830"/>
              </a:spcBef>
            </a:pPr>
            <a:r>
              <a:rPr dirty="0"/>
              <a:t>Results</a:t>
            </a:r>
            <a:r>
              <a:rPr spc="-30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dirty="0"/>
              <a:t>Future</a:t>
            </a:r>
            <a:r>
              <a:rPr spc="-20" dirty="0"/>
              <a:t> </a:t>
            </a:r>
            <a:r>
              <a:rPr spc="-10" dirty="0"/>
              <a:t>Directions</a:t>
            </a:r>
          </a:p>
          <a:p>
            <a:pPr marL="97155">
              <a:lnSpc>
                <a:spcPct val="100000"/>
              </a:lnSpc>
              <a:spcBef>
                <a:spcPts val="1030"/>
              </a:spcBef>
            </a:pPr>
            <a:r>
              <a:rPr sz="2650" dirty="0"/>
              <a:t>Key</a:t>
            </a:r>
            <a:r>
              <a:rPr sz="2650" spc="-10" dirty="0"/>
              <a:t> Findings</a:t>
            </a:r>
            <a:endParaRPr sz="2650"/>
          </a:p>
        </p:txBody>
      </p:sp>
      <p:sp>
        <p:nvSpPr>
          <p:cNvPr id="3" name="object 3"/>
          <p:cNvSpPr/>
          <p:nvPr/>
        </p:nvSpPr>
        <p:spPr>
          <a:xfrm>
            <a:off x="794004" y="2462783"/>
            <a:ext cx="4196080" cy="2033270"/>
          </a:xfrm>
          <a:custGeom>
            <a:avLst/>
            <a:gdLst/>
            <a:ahLst/>
            <a:cxnLst/>
            <a:rect l="l" t="t" r="r" b="b"/>
            <a:pathLst>
              <a:path w="4196080" h="2033270">
                <a:moveTo>
                  <a:pt x="4161536" y="0"/>
                </a:moveTo>
                <a:lnTo>
                  <a:pt x="34036" y="0"/>
                </a:lnTo>
                <a:lnTo>
                  <a:pt x="20788" y="2674"/>
                </a:lnTo>
                <a:lnTo>
                  <a:pt x="9969" y="9969"/>
                </a:lnTo>
                <a:lnTo>
                  <a:pt x="2674" y="20788"/>
                </a:lnTo>
                <a:lnTo>
                  <a:pt x="0" y="34036"/>
                </a:lnTo>
                <a:lnTo>
                  <a:pt x="0" y="1998979"/>
                </a:lnTo>
                <a:lnTo>
                  <a:pt x="2674" y="2012227"/>
                </a:lnTo>
                <a:lnTo>
                  <a:pt x="9969" y="2023046"/>
                </a:lnTo>
                <a:lnTo>
                  <a:pt x="20788" y="2030341"/>
                </a:lnTo>
                <a:lnTo>
                  <a:pt x="34036" y="2033015"/>
                </a:lnTo>
                <a:lnTo>
                  <a:pt x="4161536" y="2033015"/>
                </a:lnTo>
                <a:lnTo>
                  <a:pt x="4174783" y="2030341"/>
                </a:lnTo>
                <a:lnTo>
                  <a:pt x="4185602" y="2023046"/>
                </a:lnTo>
                <a:lnTo>
                  <a:pt x="4192897" y="2012227"/>
                </a:lnTo>
                <a:lnTo>
                  <a:pt x="4195572" y="1998979"/>
                </a:lnTo>
                <a:lnTo>
                  <a:pt x="4195572" y="34036"/>
                </a:lnTo>
                <a:lnTo>
                  <a:pt x="4192897" y="20788"/>
                </a:lnTo>
                <a:lnTo>
                  <a:pt x="4185602" y="9969"/>
                </a:lnTo>
                <a:lnTo>
                  <a:pt x="4174783" y="2674"/>
                </a:lnTo>
                <a:lnTo>
                  <a:pt x="4161536" y="0"/>
                </a:lnTo>
                <a:close/>
              </a:path>
            </a:pathLst>
          </a:custGeom>
          <a:solidFill>
            <a:srgbClr val="3734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08075" y="2665222"/>
            <a:ext cx="3604260" cy="1217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C8C2C0"/>
                </a:solidFill>
                <a:latin typeface="Times New Roman"/>
                <a:cs typeface="Times New Roman"/>
              </a:rPr>
              <a:t>Best</a:t>
            </a:r>
            <a:r>
              <a:rPr sz="2200" spc="-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C8C2C0"/>
                </a:solidFill>
                <a:latin typeface="Times New Roman"/>
                <a:cs typeface="Times New Roman"/>
              </a:rPr>
              <a:t>Model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38300"/>
              </a:lnSpc>
              <a:spcBef>
                <a:spcPts val="940"/>
              </a:spcBef>
            </a:pP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Random</a:t>
            </a:r>
            <a:r>
              <a:rPr sz="1750" spc="-2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Forest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achieved</a:t>
            </a:r>
            <a:r>
              <a:rPr sz="1750" spc="-3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highest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 overall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performance</a:t>
            </a:r>
            <a:r>
              <a:rPr sz="1750" spc="-2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across</a:t>
            </a:r>
            <a:r>
              <a:rPr sz="1750" spc="-4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evaluation</a:t>
            </a:r>
            <a:r>
              <a:rPr sz="1750" spc="-4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metrics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16652" y="2462783"/>
            <a:ext cx="4197350" cy="2033270"/>
          </a:xfrm>
          <a:custGeom>
            <a:avLst/>
            <a:gdLst/>
            <a:ahLst/>
            <a:cxnLst/>
            <a:rect l="l" t="t" r="r" b="b"/>
            <a:pathLst>
              <a:path w="4197350" h="2033270">
                <a:moveTo>
                  <a:pt x="4163059" y="0"/>
                </a:moveTo>
                <a:lnTo>
                  <a:pt x="34036" y="0"/>
                </a:lnTo>
                <a:lnTo>
                  <a:pt x="20788" y="2674"/>
                </a:lnTo>
                <a:lnTo>
                  <a:pt x="9969" y="9969"/>
                </a:lnTo>
                <a:lnTo>
                  <a:pt x="2674" y="20788"/>
                </a:lnTo>
                <a:lnTo>
                  <a:pt x="0" y="34036"/>
                </a:lnTo>
                <a:lnTo>
                  <a:pt x="0" y="1998979"/>
                </a:lnTo>
                <a:lnTo>
                  <a:pt x="2674" y="2012227"/>
                </a:lnTo>
                <a:lnTo>
                  <a:pt x="9969" y="2023046"/>
                </a:lnTo>
                <a:lnTo>
                  <a:pt x="20788" y="2030341"/>
                </a:lnTo>
                <a:lnTo>
                  <a:pt x="34036" y="2033015"/>
                </a:lnTo>
                <a:lnTo>
                  <a:pt x="4163059" y="2033015"/>
                </a:lnTo>
                <a:lnTo>
                  <a:pt x="4176307" y="2030341"/>
                </a:lnTo>
                <a:lnTo>
                  <a:pt x="4187126" y="2023046"/>
                </a:lnTo>
                <a:lnTo>
                  <a:pt x="4194421" y="2012227"/>
                </a:lnTo>
                <a:lnTo>
                  <a:pt x="4197096" y="1998979"/>
                </a:lnTo>
                <a:lnTo>
                  <a:pt x="4197096" y="34036"/>
                </a:lnTo>
                <a:lnTo>
                  <a:pt x="4194421" y="20788"/>
                </a:lnTo>
                <a:lnTo>
                  <a:pt x="4187126" y="9969"/>
                </a:lnTo>
                <a:lnTo>
                  <a:pt x="4176307" y="2674"/>
                </a:lnTo>
                <a:lnTo>
                  <a:pt x="4163059" y="0"/>
                </a:lnTo>
                <a:close/>
              </a:path>
            </a:pathLst>
          </a:custGeom>
          <a:solidFill>
            <a:srgbClr val="3734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31663" y="2665222"/>
            <a:ext cx="3201670" cy="1586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C8C2C0"/>
                </a:solidFill>
                <a:latin typeface="Times New Roman"/>
                <a:cs typeface="Times New Roman"/>
              </a:rPr>
              <a:t>Ensemble</a:t>
            </a:r>
            <a:r>
              <a:rPr sz="2200" spc="-9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C8C2C0"/>
                </a:solidFill>
                <a:latin typeface="Times New Roman"/>
                <a:cs typeface="Times New Roman"/>
              </a:rPr>
              <a:t>Success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38300"/>
              </a:lnSpc>
              <a:spcBef>
                <a:spcPts val="940"/>
              </a:spcBef>
            </a:pPr>
            <a:r>
              <a:rPr sz="1750" spc="-25" dirty="0">
                <a:solidFill>
                  <a:srgbClr val="C8C2C0"/>
                </a:solidFill>
                <a:latin typeface="Times New Roman"/>
                <a:cs typeface="Times New Roman"/>
              </a:rPr>
              <a:t>Tree-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based</a:t>
            </a:r>
            <a:r>
              <a:rPr sz="1750" spc="-2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ensemble</a:t>
            </a:r>
            <a:r>
              <a:rPr sz="1750" spc="1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methods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outperformed</a:t>
            </a:r>
            <a:r>
              <a:rPr sz="1750" spc="-1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baseline</a:t>
            </a:r>
            <a:r>
              <a:rPr sz="1750" spc="-5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Naive</a:t>
            </a:r>
            <a:r>
              <a:rPr sz="1750" spc="-3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20" dirty="0">
                <a:solidFill>
                  <a:srgbClr val="C8C2C0"/>
                </a:solidFill>
                <a:latin typeface="Times New Roman"/>
                <a:cs typeface="Times New Roman"/>
              </a:rPr>
              <a:t>Bayes 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classifier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640823" y="2462783"/>
            <a:ext cx="4196080" cy="2033270"/>
          </a:xfrm>
          <a:custGeom>
            <a:avLst/>
            <a:gdLst/>
            <a:ahLst/>
            <a:cxnLst/>
            <a:rect l="l" t="t" r="r" b="b"/>
            <a:pathLst>
              <a:path w="4196080" h="2033270">
                <a:moveTo>
                  <a:pt x="4161535" y="0"/>
                </a:moveTo>
                <a:lnTo>
                  <a:pt x="34035" y="0"/>
                </a:lnTo>
                <a:lnTo>
                  <a:pt x="20788" y="2674"/>
                </a:lnTo>
                <a:lnTo>
                  <a:pt x="9969" y="9969"/>
                </a:lnTo>
                <a:lnTo>
                  <a:pt x="2674" y="20788"/>
                </a:lnTo>
                <a:lnTo>
                  <a:pt x="0" y="34036"/>
                </a:lnTo>
                <a:lnTo>
                  <a:pt x="0" y="1998979"/>
                </a:lnTo>
                <a:lnTo>
                  <a:pt x="2674" y="2012227"/>
                </a:lnTo>
                <a:lnTo>
                  <a:pt x="9969" y="2023046"/>
                </a:lnTo>
                <a:lnTo>
                  <a:pt x="20788" y="2030341"/>
                </a:lnTo>
                <a:lnTo>
                  <a:pt x="34035" y="2033015"/>
                </a:lnTo>
                <a:lnTo>
                  <a:pt x="4161535" y="2033015"/>
                </a:lnTo>
                <a:lnTo>
                  <a:pt x="4174783" y="2030341"/>
                </a:lnTo>
                <a:lnTo>
                  <a:pt x="4185602" y="2023046"/>
                </a:lnTo>
                <a:lnTo>
                  <a:pt x="4192897" y="2012227"/>
                </a:lnTo>
                <a:lnTo>
                  <a:pt x="4195572" y="1998979"/>
                </a:lnTo>
                <a:lnTo>
                  <a:pt x="4195572" y="34036"/>
                </a:lnTo>
                <a:lnTo>
                  <a:pt x="4192897" y="20788"/>
                </a:lnTo>
                <a:lnTo>
                  <a:pt x="4185602" y="9969"/>
                </a:lnTo>
                <a:lnTo>
                  <a:pt x="4174783" y="2674"/>
                </a:lnTo>
                <a:lnTo>
                  <a:pt x="4161535" y="0"/>
                </a:lnTo>
                <a:close/>
              </a:path>
            </a:pathLst>
          </a:custGeom>
          <a:solidFill>
            <a:srgbClr val="3734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855200" y="2665222"/>
            <a:ext cx="3376295" cy="1217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C8C2C0"/>
                </a:solidFill>
                <a:latin typeface="Times New Roman"/>
                <a:cs typeface="Times New Roman"/>
              </a:rPr>
              <a:t>Challenge</a:t>
            </a:r>
            <a:r>
              <a:rPr sz="2200" spc="-12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C8C2C0"/>
                </a:solidFill>
                <a:latin typeface="Times New Roman"/>
                <a:cs typeface="Times New Roman"/>
              </a:rPr>
              <a:t>Area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38300"/>
              </a:lnSpc>
              <a:spcBef>
                <a:spcPts val="940"/>
              </a:spcBef>
            </a:pP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Negative</a:t>
            </a:r>
            <a:r>
              <a:rPr sz="1750" spc="-4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sentiment</a:t>
            </a:r>
            <a:r>
              <a:rPr sz="1750" spc="-1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prediction</a:t>
            </a:r>
            <a:r>
              <a:rPr sz="1750" spc="-4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proved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most</a:t>
            </a:r>
            <a:r>
              <a:rPr sz="1750" spc="-1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difficult</a:t>
            </a:r>
            <a:r>
              <a:rPr sz="1750" spc="-2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due</a:t>
            </a:r>
            <a:r>
              <a:rPr sz="1750" spc="-2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to</a:t>
            </a:r>
            <a:r>
              <a:rPr sz="1750" spc="-2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class</a:t>
            </a:r>
            <a:r>
              <a:rPr sz="1750" spc="-5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imbalance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1304" y="4800980"/>
            <a:ext cx="1723389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dirty="0">
                <a:solidFill>
                  <a:srgbClr val="D7B6A3"/>
                </a:solidFill>
                <a:latin typeface="Times New Roman"/>
                <a:cs typeface="Times New Roman"/>
              </a:rPr>
              <a:t>Future</a:t>
            </a:r>
            <a:r>
              <a:rPr sz="2650" spc="-80" dirty="0">
                <a:solidFill>
                  <a:srgbClr val="D7B6A3"/>
                </a:solidFill>
                <a:latin typeface="Times New Roman"/>
                <a:cs typeface="Times New Roman"/>
              </a:rPr>
              <a:t> </a:t>
            </a:r>
            <a:r>
              <a:rPr sz="2650" spc="-40" dirty="0">
                <a:solidFill>
                  <a:srgbClr val="D7B6A3"/>
                </a:solidFill>
                <a:latin typeface="Times New Roman"/>
                <a:cs typeface="Times New Roman"/>
              </a:rPr>
              <a:t>Work</a:t>
            </a:r>
            <a:endParaRPr sz="265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78763" y="5585459"/>
            <a:ext cx="6438900" cy="1762125"/>
            <a:chOff x="778763" y="5585459"/>
            <a:chExt cx="6438900" cy="1762125"/>
          </a:xfrm>
        </p:grpSpPr>
        <p:sp>
          <p:nvSpPr>
            <p:cNvPr id="11" name="object 11"/>
            <p:cNvSpPr/>
            <p:nvPr/>
          </p:nvSpPr>
          <p:spPr>
            <a:xfrm>
              <a:off x="794003" y="5600699"/>
              <a:ext cx="6408420" cy="1731645"/>
            </a:xfrm>
            <a:custGeom>
              <a:avLst/>
              <a:gdLst/>
              <a:ahLst/>
              <a:cxnLst/>
              <a:rect l="l" t="t" r="r" b="b"/>
              <a:pathLst>
                <a:path w="6408420" h="1731645">
                  <a:moveTo>
                    <a:pt x="6374384" y="0"/>
                  </a:moveTo>
                  <a:lnTo>
                    <a:pt x="34036" y="0"/>
                  </a:lnTo>
                  <a:lnTo>
                    <a:pt x="20788" y="2674"/>
                  </a:lnTo>
                  <a:lnTo>
                    <a:pt x="9969" y="9969"/>
                  </a:lnTo>
                  <a:lnTo>
                    <a:pt x="2674" y="20788"/>
                  </a:lnTo>
                  <a:lnTo>
                    <a:pt x="0" y="34036"/>
                  </a:lnTo>
                  <a:lnTo>
                    <a:pt x="0" y="1697227"/>
                  </a:lnTo>
                  <a:lnTo>
                    <a:pt x="2674" y="1710475"/>
                  </a:lnTo>
                  <a:lnTo>
                    <a:pt x="9969" y="1721294"/>
                  </a:lnTo>
                  <a:lnTo>
                    <a:pt x="20788" y="1728589"/>
                  </a:lnTo>
                  <a:lnTo>
                    <a:pt x="34036" y="1731264"/>
                  </a:lnTo>
                  <a:lnTo>
                    <a:pt x="6374384" y="1731264"/>
                  </a:lnTo>
                  <a:lnTo>
                    <a:pt x="6387631" y="1728589"/>
                  </a:lnTo>
                  <a:lnTo>
                    <a:pt x="6398450" y="1721294"/>
                  </a:lnTo>
                  <a:lnTo>
                    <a:pt x="6405745" y="1710475"/>
                  </a:lnTo>
                  <a:lnTo>
                    <a:pt x="6408420" y="1697227"/>
                  </a:lnTo>
                  <a:lnTo>
                    <a:pt x="6408420" y="34036"/>
                  </a:lnTo>
                  <a:lnTo>
                    <a:pt x="6405745" y="20788"/>
                  </a:lnTo>
                  <a:lnTo>
                    <a:pt x="6398450" y="9969"/>
                  </a:lnTo>
                  <a:lnTo>
                    <a:pt x="6387631" y="2674"/>
                  </a:lnTo>
                  <a:lnTo>
                    <a:pt x="6374384" y="0"/>
                  </a:lnTo>
                  <a:close/>
                </a:path>
              </a:pathLst>
            </a:custGeom>
            <a:solidFill>
              <a:srgbClr val="4643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4003" y="5600699"/>
              <a:ext cx="6408420" cy="1731645"/>
            </a:xfrm>
            <a:custGeom>
              <a:avLst/>
              <a:gdLst/>
              <a:ahLst/>
              <a:cxnLst/>
              <a:rect l="l" t="t" r="r" b="b"/>
              <a:pathLst>
                <a:path w="6408420" h="1731645">
                  <a:moveTo>
                    <a:pt x="0" y="34036"/>
                  </a:moveTo>
                  <a:lnTo>
                    <a:pt x="2674" y="20788"/>
                  </a:lnTo>
                  <a:lnTo>
                    <a:pt x="9969" y="9969"/>
                  </a:lnTo>
                  <a:lnTo>
                    <a:pt x="20788" y="2674"/>
                  </a:lnTo>
                  <a:lnTo>
                    <a:pt x="34036" y="0"/>
                  </a:lnTo>
                  <a:lnTo>
                    <a:pt x="6374384" y="0"/>
                  </a:lnTo>
                  <a:lnTo>
                    <a:pt x="6387631" y="2674"/>
                  </a:lnTo>
                  <a:lnTo>
                    <a:pt x="6398450" y="9969"/>
                  </a:lnTo>
                  <a:lnTo>
                    <a:pt x="6405745" y="20788"/>
                  </a:lnTo>
                  <a:lnTo>
                    <a:pt x="6408420" y="34036"/>
                  </a:lnTo>
                  <a:lnTo>
                    <a:pt x="6408420" y="1697227"/>
                  </a:lnTo>
                  <a:lnTo>
                    <a:pt x="6405745" y="1710475"/>
                  </a:lnTo>
                  <a:lnTo>
                    <a:pt x="6398450" y="1721294"/>
                  </a:lnTo>
                  <a:lnTo>
                    <a:pt x="6387631" y="1728589"/>
                  </a:lnTo>
                  <a:lnTo>
                    <a:pt x="6374384" y="1731264"/>
                  </a:lnTo>
                  <a:lnTo>
                    <a:pt x="34036" y="1731264"/>
                  </a:lnTo>
                  <a:lnTo>
                    <a:pt x="20788" y="1728589"/>
                  </a:lnTo>
                  <a:lnTo>
                    <a:pt x="9969" y="1721294"/>
                  </a:lnTo>
                  <a:lnTo>
                    <a:pt x="2674" y="1710475"/>
                  </a:lnTo>
                  <a:lnTo>
                    <a:pt x="0" y="1697227"/>
                  </a:lnTo>
                  <a:lnTo>
                    <a:pt x="0" y="34036"/>
                  </a:lnTo>
                  <a:close/>
                </a:path>
              </a:pathLst>
            </a:custGeom>
            <a:ln w="30480">
              <a:solidFill>
                <a:srgbClr val="504D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038555" y="5834634"/>
            <a:ext cx="5905500" cy="1217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C8C2C0"/>
                </a:solidFill>
                <a:latin typeface="Times New Roman"/>
                <a:cs typeface="Times New Roman"/>
              </a:rPr>
              <a:t>Data</a:t>
            </a:r>
            <a:r>
              <a:rPr sz="2200" spc="-4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C8C2C0"/>
                </a:solidFill>
                <a:latin typeface="Times New Roman"/>
                <a:cs typeface="Times New Roman"/>
              </a:rPr>
              <a:t>Balancing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39"/>
              </a:spcBef>
            </a:pP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Apply</a:t>
            </a:r>
            <a:r>
              <a:rPr sz="1750" spc="-2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oversampling</a:t>
            </a:r>
            <a:r>
              <a:rPr sz="1750" spc="-3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or undersampling</a:t>
            </a:r>
            <a:r>
              <a:rPr sz="1750" spc="-3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techniques</a:t>
            </a:r>
            <a:r>
              <a:rPr sz="1750" spc="-4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to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address</a:t>
            </a:r>
            <a:r>
              <a:rPr sz="1750" spc="-3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class</a:t>
            </a: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imbalance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412735" y="5585459"/>
            <a:ext cx="6438900" cy="1762125"/>
            <a:chOff x="7412735" y="5585459"/>
            <a:chExt cx="6438900" cy="1762125"/>
          </a:xfrm>
        </p:grpSpPr>
        <p:sp>
          <p:nvSpPr>
            <p:cNvPr id="15" name="object 15"/>
            <p:cNvSpPr/>
            <p:nvPr/>
          </p:nvSpPr>
          <p:spPr>
            <a:xfrm>
              <a:off x="7427975" y="5600699"/>
              <a:ext cx="6408420" cy="1731645"/>
            </a:xfrm>
            <a:custGeom>
              <a:avLst/>
              <a:gdLst/>
              <a:ahLst/>
              <a:cxnLst/>
              <a:rect l="l" t="t" r="r" b="b"/>
              <a:pathLst>
                <a:path w="6408419" h="1731645">
                  <a:moveTo>
                    <a:pt x="6374383" y="0"/>
                  </a:moveTo>
                  <a:lnTo>
                    <a:pt x="34035" y="0"/>
                  </a:lnTo>
                  <a:lnTo>
                    <a:pt x="20788" y="2674"/>
                  </a:lnTo>
                  <a:lnTo>
                    <a:pt x="9969" y="9969"/>
                  </a:lnTo>
                  <a:lnTo>
                    <a:pt x="2674" y="20788"/>
                  </a:lnTo>
                  <a:lnTo>
                    <a:pt x="0" y="34036"/>
                  </a:lnTo>
                  <a:lnTo>
                    <a:pt x="0" y="1697227"/>
                  </a:lnTo>
                  <a:lnTo>
                    <a:pt x="2674" y="1710475"/>
                  </a:lnTo>
                  <a:lnTo>
                    <a:pt x="9969" y="1721294"/>
                  </a:lnTo>
                  <a:lnTo>
                    <a:pt x="20788" y="1728589"/>
                  </a:lnTo>
                  <a:lnTo>
                    <a:pt x="34035" y="1731264"/>
                  </a:lnTo>
                  <a:lnTo>
                    <a:pt x="6374383" y="1731264"/>
                  </a:lnTo>
                  <a:lnTo>
                    <a:pt x="6387631" y="1728589"/>
                  </a:lnTo>
                  <a:lnTo>
                    <a:pt x="6398450" y="1721294"/>
                  </a:lnTo>
                  <a:lnTo>
                    <a:pt x="6405745" y="1710475"/>
                  </a:lnTo>
                  <a:lnTo>
                    <a:pt x="6408420" y="1697227"/>
                  </a:lnTo>
                  <a:lnTo>
                    <a:pt x="6408420" y="34036"/>
                  </a:lnTo>
                  <a:lnTo>
                    <a:pt x="6405745" y="20788"/>
                  </a:lnTo>
                  <a:lnTo>
                    <a:pt x="6398450" y="9969"/>
                  </a:lnTo>
                  <a:lnTo>
                    <a:pt x="6387631" y="2674"/>
                  </a:lnTo>
                  <a:lnTo>
                    <a:pt x="6374383" y="0"/>
                  </a:lnTo>
                  <a:close/>
                </a:path>
              </a:pathLst>
            </a:custGeom>
            <a:solidFill>
              <a:srgbClr val="4643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427975" y="5600699"/>
              <a:ext cx="6408420" cy="1731645"/>
            </a:xfrm>
            <a:custGeom>
              <a:avLst/>
              <a:gdLst/>
              <a:ahLst/>
              <a:cxnLst/>
              <a:rect l="l" t="t" r="r" b="b"/>
              <a:pathLst>
                <a:path w="6408419" h="1731645">
                  <a:moveTo>
                    <a:pt x="0" y="34036"/>
                  </a:moveTo>
                  <a:lnTo>
                    <a:pt x="2674" y="20788"/>
                  </a:lnTo>
                  <a:lnTo>
                    <a:pt x="9969" y="9969"/>
                  </a:lnTo>
                  <a:lnTo>
                    <a:pt x="20788" y="2674"/>
                  </a:lnTo>
                  <a:lnTo>
                    <a:pt x="34035" y="0"/>
                  </a:lnTo>
                  <a:lnTo>
                    <a:pt x="6374383" y="0"/>
                  </a:lnTo>
                  <a:lnTo>
                    <a:pt x="6387631" y="2674"/>
                  </a:lnTo>
                  <a:lnTo>
                    <a:pt x="6398450" y="9969"/>
                  </a:lnTo>
                  <a:lnTo>
                    <a:pt x="6405745" y="20788"/>
                  </a:lnTo>
                  <a:lnTo>
                    <a:pt x="6408420" y="34036"/>
                  </a:lnTo>
                  <a:lnTo>
                    <a:pt x="6408420" y="1697227"/>
                  </a:lnTo>
                  <a:lnTo>
                    <a:pt x="6405745" y="1710475"/>
                  </a:lnTo>
                  <a:lnTo>
                    <a:pt x="6398450" y="1721294"/>
                  </a:lnTo>
                  <a:lnTo>
                    <a:pt x="6387631" y="1728589"/>
                  </a:lnTo>
                  <a:lnTo>
                    <a:pt x="6374383" y="1731264"/>
                  </a:lnTo>
                  <a:lnTo>
                    <a:pt x="34035" y="1731264"/>
                  </a:lnTo>
                  <a:lnTo>
                    <a:pt x="20788" y="1728589"/>
                  </a:lnTo>
                  <a:lnTo>
                    <a:pt x="9969" y="1721294"/>
                  </a:lnTo>
                  <a:lnTo>
                    <a:pt x="2674" y="1710475"/>
                  </a:lnTo>
                  <a:lnTo>
                    <a:pt x="0" y="1697227"/>
                  </a:lnTo>
                  <a:lnTo>
                    <a:pt x="0" y="34036"/>
                  </a:lnTo>
                  <a:close/>
                </a:path>
              </a:pathLst>
            </a:custGeom>
            <a:ln w="30480">
              <a:solidFill>
                <a:srgbClr val="504D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673720" y="5834634"/>
            <a:ext cx="5513705" cy="1217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C8C2C0"/>
                </a:solidFill>
                <a:latin typeface="Times New Roman"/>
                <a:cs typeface="Times New Roman"/>
              </a:rPr>
              <a:t>Deep</a:t>
            </a:r>
            <a:r>
              <a:rPr sz="2200" spc="-5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C8C2C0"/>
                </a:solidFill>
                <a:latin typeface="Times New Roman"/>
                <a:cs typeface="Times New Roman"/>
              </a:rPr>
              <a:t>Learning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39"/>
              </a:spcBef>
            </a:pP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Explore</a:t>
            </a:r>
            <a:r>
              <a:rPr sz="1750" spc="-2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neural</a:t>
            </a:r>
            <a:r>
              <a:rPr sz="1750" spc="-3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network</a:t>
            </a:r>
            <a:r>
              <a:rPr sz="1750" spc="-2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architectures</a:t>
            </a:r>
            <a:r>
              <a:rPr sz="1750" spc="-5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like</a:t>
            </a:r>
            <a:r>
              <a:rPr sz="1750" spc="-3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LSTM</a:t>
            </a:r>
            <a:r>
              <a:rPr sz="1750" spc="-1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or</a:t>
            </a:r>
            <a:r>
              <a:rPr sz="1750" spc="-1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25" dirty="0">
                <a:solidFill>
                  <a:srgbClr val="C8C2C0"/>
                </a:solidFill>
                <a:latin typeface="Times New Roman"/>
                <a:cs typeface="Times New Roman"/>
              </a:rPr>
              <a:t>BERT</a:t>
            </a:r>
            <a:r>
              <a:rPr sz="1750" spc="-40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25" dirty="0">
                <a:solidFill>
                  <a:srgbClr val="C8C2C0"/>
                </a:solidFill>
                <a:latin typeface="Times New Roman"/>
                <a:cs typeface="Times New Roman"/>
              </a:rPr>
              <a:t>for</a:t>
            </a: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750" dirty="0">
                <a:solidFill>
                  <a:srgbClr val="C8C2C0"/>
                </a:solidFill>
                <a:latin typeface="Times New Roman"/>
                <a:cs typeface="Times New Roman"/>
              </a:rPr>
              <a:t>enhanced</a:t>
            </a:r>
            <a:r>
              <a:rPr sz="1750" spc="-25" dirty="0">
                <a:solidFill>
                  <a:srgbClr val="C8C2C0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C8C2C0"/>
                </a:solidFill>
                <a:latin typeface="Times New Roman"/>
                <a:cs typeface="Times New Roman"/>
              </a:rPr>
              <a:t>performance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513</Words>
  <Application>Microsoft Office PowerPoint</Application>
  <PresentationFormat>Custom</PresentationFormat>
  <Paragraphs>115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 MT</vt:lpstr>
      <vt:lpstr>Calibri</vt:lpstr>
      <vt:lpstr>Georgia</vt:lpstr>
      <vt:lpstr>Times New Roman</vt:lpstr>
      <vt:lpstr>Office Theme</vt:lpstr>
      <vt:lpstr>Sentiment Analysis of SXSW Tech Tweets</vt:lpstr>
      <vt:lpstr>Introduction: The Power of Sentiment Analysis</vt:lpstr>
      <vt:lpstr>Problem Statement</vt:lpstr>
      <vt:lpstr>Dataset Overview</vt:lpstr>
      <vt:lpstr>Exploratory Data Analysis</vt:lpstr>
      <vt:lpstr>Text Preprocessing Pipeline</vt:lpstr>
      <vt:lpstr>Feature Engineering: TF-IDF Vectorization</vt:lpstr>
      <vt:lpstr>Machine Learning Models</vt:lpstr>
      <vt:lpstr>Model Training and Evaluation</vt:lpstr>
      <vt:lpstr>Results and Future Directions Key Findings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Vicky</dc:creator>
  <cp:lastModifiedBy>Vicky Gakuo</cp:lastModifiedBy>
  <cp:revision>1</cp:revision>
  <dcterms:created xsi:type="dcterms:W3CDTF">2026-02-04T14:39:03Z</dcterms:created>
  <dcterms:modified xsi:type="dcterms:W3CDTF">2026-02-04T14:53:14Z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2026-02-04T00:00:00Z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2026-02-04T00:00:00Z</vt:filetime>
  </property>
  <property fmtid="{D5CDD505-2E9C-101B-9397-08002B2CF9AE}" pid="5" name="Producer">
    <vt:lpwstr>Microsoft® PowerPoint® 2013</vt:lpwstr>
  </property>
</Properties>
</file>