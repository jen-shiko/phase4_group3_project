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14630400" cy="8229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4" d="100"/>
          <a:sy n="64" d="100"/>
        </p:scale>
        <p:origin x="907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97280" y="2551176"/>
            <a:ext cx="12435840" cy="17282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D7B6A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94560" y="4608576"/>
            <a:ext cx="10241280" cy="205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D7B6A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4630400" cy="8229600"/>
          </a:xfrm>
          <a:custGeom>
            <a:avLst/>
            <a:gdLst/>
            <a:ahLst/>
            <a:cxnLst/>
            <a:rect l="l" t="t" r="r" b="b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46434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0"/>
            <a:ext cx="5486400" cy="82295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D7B6A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731520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534656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50" b="0" i="0">
                <a:solidFill>
                  <a:srgbClr val="D7B6A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4630400" cy="8229600"/>
          </a:xfrm>
          <a:custGeom>
            <a:avLst/>
            <a:gdLst/>
            <a:ahLst/>
            <a:cxnLst/>
            <a:rect l="l" t="t" r="r" b="b"/>
            <a:pathLst>
              <a:path w="14630400" h="8229600">
                <a:moveTo>
                  <a:pt x="14630400" y="0"/>
                </a:moveTo>
                <a:lnTo>
                  <a:pt x="0" y="0"/>
                </a:lnTo>
                <a:lnTo>
                  <a:pt x="0" y="8229600"/>
                </a:lnTo>
                <a:lnTo>
                  <a:pt x="14630400" y="8229600"/>
                </a:lnTo>
                <a:lnTo>
                  <a:pt x="14630400" y="0"/>
                </a:lnTo>
                <a:close/>
              </a:path>
            </a:pathLst>
          </a:custGeom>
          <a:solidFill>
            <a:srgbClr val="46434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6569" y="540461"/>
            <a:ext cx="6846849" cy="18963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50" b="0" i="0">
                <a:solidFill>
                  <a:srgbClr val="D7B6A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31520" y="1892808"/>
            <a:ext cx="13167360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974336" y="7653528"/>
            <a:ext cx="4681728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731520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0533888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486400" cy="82295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267958" y="3009975"/>
            <a:ext cx="6732905" cy="14166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>
              <a:lnSpc>
                <a:spcPts val="5610"/>
              </a:lnSpc>
            </a:pPr>
            <a:r>
              <a:rPr dirty="0"/>
              <a:t>Sentiment</a:t>
            </a:r>
            <a:r>
              <a:rPr spc="-280" dirty="0"/>
              <a:t> </a:t>
            </a:r>
            <a:r>
              <a:rPr dirty="0"/>
              <a:t>Analysis</a:t>
            </a:r>
            <a:r>
              <a:rPr spc="-15" dirty="0"/>
              <a:t> </a:t>
            </a:r>
            <a:r>
              <a:rPr dirty="0"/>
              <a:t>of</a:t>
            </a:r>
            <a:r>
              <a:rPr spc="-15" dirty="0"/>
              <a:t> </a:t>
            </a:r>
            <a:r>
              <a:rPr spc="-20" dirty="0"/>
              <a:t>SXSW </a:t>
            </a:r>
            <a:r>
              <a:rPr spc="-50" dirty="0"/>
              <a:t>Tech</a:t>
            </a:r>
            <a:r>
              <a:rPr spc="-204" dirty="0"/>
              <a:t> </a:t>
            </a:r>
            <a:r>
              <a:rPr spc="-10" dirty="0"/>
              <a:t>Tweets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267958" y="4853685"/>
            <a:ext cx="5247005" cy="2503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Natural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Language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Processing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&amp; Machine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Learning</a:t>
            </a:r>
            <a:r>
              <a:rPr sz="1750" spc="-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Project</a:t>
            </a:r>
            <a:endParaRPr sz="17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750">
              <a:latin typeface="Times New Roman"/>
              <a:cs typeface="Times New Roman"/>
            </a:endParaRPr>
          </a:p>
          <a:p>
            <a:pPr marL="400685" marR="3364865" indent="-388620">
              <a:lnSpc>
                <a:spcPct val="138000"/>
              </a:lnSpc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By: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Lilibeth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Langat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Jeniffer</a:t>
            </a:r>
            <a:r>
              <a:rPr sz="1750" spc="-7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Mbugua Lydia</a:t>
            </a:r>
            <a:r>
              <a:rPr sz="1750" spc="-7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Khisa Vicky</a:t>
            </a:r>
            <a:r>
              <a:rPr sz="1750" spc="-7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Gakuo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Kefa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Mwai</a:t>
            </a:r>
            <a:endParaRPr sz="1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1304" y="1838070"/>
            <a:ext cx="10706735" cy="704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Introduction:</a:t>
            </a:r>
            <a:r>
              <a:rPr spc="-135" dirty="0"/>
              <a:t> </a:t>
            </a:r>
            <a:r>
              <a:rPr dirty="0"/>
              <a:t>The</a:t>
            </a:r>
            <a:r>
              <a:rPr spc="-40" dirty="0"/>
              <a:t> </a:t>
            </a:r>
            <a:r>
              <a:rPr dirty="0"/>
              <a:t>Power</a:t>
            </a:r>
            <a:r>
              <a:rPr spc="-15" dirty="0"/>
              <a:t> </a:t>
            </a:r>
            <a:r>
              <a:rPr dirty="0"/>
              <a:t>of</a:t>
            </a:r>
            <a:r>
              <a:rPr spc="-10" dirty="0"/>
              <a:t> </a:t>
            </a:r>
            <a:r>
              <a:rPr dirty="0"/>
              <a:t>Sentiment</a:t>
            </a:r>
            <a:r>
              <a:rPr spc="-280" dirty="0"/>
              <a:t> </a:t>
            </a:r>
            <a:r>
              <a:rPr spc="-10" dirty="0"/>
              <a:t>Analysis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794004" y="3044951"/>
            <a:ext cx="4196080" cy="3302635"/>
            <a:chOff x="794004" y="3044951"/>
            <a:chExt cx="4196080" cy="3302635"/>
          </a:xfrm>
        </p:grpSpPr>
        <p:sp>
          <p:nvSpPr>
            <p:cNvPr id="4" name="object 4"/>
            <p:cNvSpPr/>
            <p:nvPr/>
          </p:nvSpPr>
          <p:spPr>
            <a:xfrm>
              <a:off x="794004" y="3044951"/>
              <a:ext cx="4196080" cy="3302635"/>
            </a:xfrm>
            <a:custGeom>
              <a:avLst/>
              <a:gdLst/>
              <a:ahLst/>
              <a:cxnLst/>
              <a:rect l="l" t="t" r="r" b="b"/>
              <a:pathLst>
                <a:path w="4196080" h="3302635">
                  <a:moveTo>
                    <a:pt x="4161536" y="0"/>
                  </a:moveTo>
                  <a:lnTo>
                    <a:pt x="34023" y="0"/>
                  </a:lnTo>
                  <a:lnTo>
                    <a:pt x="20777" y="2674"/>
                  </a:lnTo>
                  <a:lnTo>
                    <a:pt x="9963" y="9969"/>
                  </a:lnTo>
                  <a:lnTo>
                    <a:pt x="2672" y="20788"/>
                  </a:lnTo>
                  <a:lnTo>
                    <a:pt x="0" y="34036"/>
                  </a:lnTo>
                  <a:lnTo>
                    <a:pt x="0" y="3268472"/>
                  </a:lnTo>
                  <a:lnTo>
                    <a:pt x="2672" y="3281719"/>
                  </a:lnTo>
                  <a:lnTo>
                    <a:pt x="9963" y="3292538"/>
                  </a:lnTo>
                  <a:lnTo>
                    <a:pt x="20777" y="3299833"/>
                  </a:lnTo>
                  <a:lnTo>
                    <a:pt x="34023" y="3302508"/>
                  </a:lnTo>
                  <a:lnTo>
                    <a:pt x="4161536" y="3302508"/>
                  </a:lnTo>
                  <a:lnTo>
                    <a:pt x="4174783" y="3299833"/>
                  </a:lnTo>
                  <a:lnTo>
                    <a:pt x="4185602" y="3292538"/>
                  </a:lnTo>
                  <a:lnTo>
                    <a:pt x="4192897" y="3281719"/>
                  </a:lnTo>
                  <a:lnTo>
                    <a:pt x="4195572" y="3268472"/>
                  </a:lnTo>
                  <a:lnTo>
                    <a:pt x="4195572" y="34036"/>
                  </a:lnTo>
                  <a:lnTo>
                    <a:pt x="4192897" y="20788"/>
                  </a:lnTo>
                  <a:lnTo>
                    <a:pt x="4185602" y="9969"/>
                  </a:lnTo>
                  <a:lnTo>
                    <a:pt x="4174783" y="2674"/>
                  </a:lnTo>
                  <a:lnTo>
                    <a:pt x="4161536" y="0"/>
                  </a:lnTo>
                  <a:close/>
                </a:path>
              </a:pathLst>
            </a:custGeom>
            <a:solidFill>
              <a:srgbClr val="373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21079" y="3272027"/>
              <a:ext cx="680085" cy="680085"/>
            </a:xfrm>
            <a:custGeom>
              <a:avLst/>
              <a:gdLst/>
              <a:ahLst/>
              <a:cxnLst/>
              <a:rect l="l" t="t" r="r" b="b"/>
              <a:pathLst>
                <a:path w="680085" h="680085">
                  <a:moveTo>
                    <a:pt x="339851" y="0"/>
                  </a:moveTo>
                  <a:lnTo>
                    <a:pt x="293736" y="3102"/>
                  </a:lnTo>
                  <a:lnTo>
                    <a:pt x="249506" y="12139"/>
                  </a:lnTo>
                  <a:lnTo>
                    <a:pt x="207567" y="26705"/>
                  </a:lnTo>
                  <a:lnTo>
                    <a:pt x="168322" y="46397"/>
                  </a:lnTo>
                  <a:lnTo>
                    <a:pt x="132179" y="70809"/>
                  </a:lnTo>
                  <a:lnTo>
                    <a:pt x="99541" y="99536"/>
                  </a:lnTo>
                  <a:lnTo>
                    <a:pt x="70812" y="132173"/>
                  </a:lnTo>
                  <a:lnTo>
                    <a:pt x="46400" y="168317"/>
                  </a:lnTo>
                  <a:lnTo>
                    <a:pt x="26707" y="207561"/>
                  </a:lnTo>
                  <a:lnTo>
                    <a:pt x="12139" y="249502"/>
                  </a:lnTo>
                  <a:lnTo>
                    <a:pt x="3102" y="293733"/>
                  </a:lnTo>
                  <a:lnTo>
                    <a:pt x="0" y="339851"/>
                  </a:lnTo>
                  <a:lnTo>
                    <a:pt x="3102" y="385970"/>
                  </a:lnTo>
                  <a:lnTo>
                    <a:pt x="12139" y="430201"/>
                  </a:lnTo>
                  <a:lnTo>
                    <a:pt x="26707" y="472142"/>
                  </a:lnTo>
                  <a:lnTo>
                    <a:pt x="46400" y="511386"/>
                  </a:lnTo>
                  <a:lnTo>
                    <a:pt x="70812" y="547530"/>
                  </a:lnTo>
                  <a:lnTo>
                    <a:pt x="99541" y="580167"/>
                  </a:lnTo>
                  <a:lnTo>
                    <a:pt x="132179" y="608894"/>
                  </a:lnTo>
                  <a:lnTo>
                    <a:pt x="168322" y="633306"/>
                  </a:lnTo>
                  <a:lnTo>
                    <a:pt x="207567" y="652998"/>
                  </a:lnTo>
                  <a:lnTo>
                    <a:pt x="249506" y="667564"/>
                  </a:lnTo>
                  <a:lnTo>
                    <a:pt x="293736" y="676601"/>
                  </a:lnTo>
                  <a:lnTo>
                    <a:pt x="339851" y="679704"/>
                  </a:lnTo>
                  <a:lnTo>
                    <a:pt x="385970" y="676601"/>
                  </a:lnTo>
                  <a:lnTo>
                    <a:pt x="430201" y="667564"/>
                  </a:lnTo>
                  <a:lnTo>
                    <a:pt x="472142" y="652998"/>
                  </a:lnTo>
                  <a:lnTo>
                    <a:pt x="511386" y="633306"/>
                  </a:lnTo>
                  <a:lnTo>
                    <a:pt x="547530" y="608894"/>
                  </a:lnTo>
                  <a:lnTo>
                    <a:pt x="580167" y="580167"/>
                  </a:lnTo>
                  <a:lnTo>
                    <a:pt x="608894" y="547530"/>
                  </a:lnTo>
                  <a:lnTo>
                    <a:pt x="633306" y="511386"/>
                  </a:lnTo>
                  <a:lnTo>
                    <a:pt x="652998" y="472142"/>
                  </a:lnTo>
                  <a:lnTo>
                    <a:pt x="667564" y="430201"/>
                  </a:lnTo>
                  <a:lnTo>
                    <a:pt x="676601" y="385970"/>
                  </a:lnTo>
                  <a:lnTo>
                    <a:pt x="679703" y="339851"/>
                  </a:lnTo>
                  <a:lnTo>
                    <a:pt x="676601" y="293733"/>
                  </a:lnTo>
                  <a:lnTo>
                    <a:pt x="667564" y="249502"/>
                  </a:lnTo>
                  <a:lnTo>
                    <a:pt x="652998" y="207561"/>
                  </a:lnTo>
                  <a:lnTo>
                    <a:pt x="633306" y="168317"/>
                  </a:lnTo>
                  <a:lnTo>
                    <a:pt x="608894" y="132173"/>
                  </a:lnTo>
                  <a:lnTo>
                    <a:pt x="580167" y="99536"/>
                  </a:lnTo>
                  <a:lnTo>
                    <a:pt x="547530" y="70809"/>
                  </a:lnTo>
                  <a:lnTo>
                    <a:pt x="511386" y="46397"/>
                  </a:lnTo>
                  <a:lnTo>
                    <a:pt x="472142" y="26705"/>
                  </a:lnTo>
                  <a:lnTo>
                    <a:pt x="430201" y="12139"/>
                  </a:lnTo>
                  <a:lnTo>
                    <a:pt x="385970" y="3102"/>
                  </a:lnTo>
                  <a:lnTo>
                    <a:pt x="339851" y="0"/>
                  </a:lnTo>
                  <a:close/>
                </a:path>
              </a:pathLst>
            </a:custGeom>
            <a:solidFill>
              <a:srgbClr val="C49F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08531" y="3457955"/>
              <a:ext cx="304800" cy="306324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1008075" y="4154551"/>
            <a:ext cx="3665854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Unstructured</a:t>
            </a:r>
            <a:r>
              <a:rPr sz="2200" spc="-8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20" dirty="0">
                <a:solidFill>
                  <a:srgbClr val="C8C2C0"/>
                </a:solidFill>
                <a:latin typeface="Times New Roman"/>
                <a:cs typeface="Times New Roman"/>
              </a:rPr>
              <a:t>Text</a:t>
            </a:r>
            <a:r>
              <a:rPr sz="22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Challenge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1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Social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media</a:t>
            </a:r>
            <a:r>
              <a:rPr sz="1750" spc="-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platforms</a:t>
            </a:r>
            <a:r>
              <a:rPr sz="1750" spc="-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generate</a:t>
            </a:r>
            <a:r>
              <a:rPr sz="17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massive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volumes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of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unstructured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text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daily,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creating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opportunities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automated analysis</a:t>
            </a:r>
            <a:endParaRPr sz="1750">
              <a:latin typeface="Times New Roman"/>
              <a:cs typeface="Times New Roman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5216652" y="3044951"/>
            <a:ext cx="4197350" cy="3302635"/>
            <a:chOff x="5216652" y="3044951"/>
            <a:chExt cx="4197350" cy="3302635"/>
          </a:xfrm>
        </p:grpSpPr>
        <p:sp>
          <p:nvSpPr>
            <p:cNvPr id="9" name="object 9"/>
            <p:cNvSpPr/>
            <p:nvPr/>
          </p:nvSpPr>
          <p:spPr>
            <a:xfrm>
              <a:off x="5216652" y="3044951"/>
              <a:ext cx="4197350" cy="3302635"/>
            </a:xfrm>
            <a:custGeom>
              <a:avLst/>
              <a:gdLst/>
              <a:ahLst/>
              <a:cxnLst/>
              <a:rect l="l" t="t" r="r" b="b"/>
              <a:pathLst>
                <a:path w="4197350" h="3302635">
                  <a:moveTo>
                    <a:pt x="4163059" y="0"/>
                  </a:moveTo>
                  <a:lnTo>
                    <a:pt x="34036" y="0"/>
                  </a:lnTo>
                  <a:lnTo>
                    <a:pt x="20788" y="2674"/>
                  </a:lnTo>
                  <a:lnTo>
                    <a:pt x="9969" y="9969"/>
                  </a:lnTo>
                  <a:lnTo>
                    <a:pt x="2674" y="20788"/>
                  </a:lnTo>
                  <a:lnTo>
                    <a:pt x="0" y="34036"/>
                  </a:lnTo>
                  <a:lnTo>
                    <a:pt x="0" y="3268472"/>
                  </a:lnTo>
                  <a:lnTo>
                    <a:pt x="2674" y="3281719"/>
                  </a:lnTo>
                  <a:lnTo>
                    <a:pt x="9969" y="3292538"/>
                  </a:lnTo>
                  <a:lnTo>
                    <a:pt x="20788" y="3299833"/>
                  </a:lnTo>
                  <a:lnTo>
                    <a:pt x="34036" y="3302508"/>
                  </a:lnTo>
                  <a:lnTo>
                    <a:pt x="4163059" y="3302508"/>
                  </a:lnTo>
                  <a:lnTo>
                    <a:pt x="4176307" y="3299833"/>
                  </a:lnTo>
                  <a:lnTo>
                    <a:pt x="4187126" y="3292538"/>
                  </a:lnTo>
                  <a:lnTo>
                    <a:pt x="4194421" y="3281719"/>
                  </a:lnTo>
                  <a:lnTo>
                    <a:pt x="4197096" y="3268472"/>
                  </a:lnTo>
                  <a:lnTo>
                    <a:pt x="4197096" y="34036"/>
                  </a:lnTo>
                  <a:lnTo>
                    <a:pt x="4194421" y="20788"/>
                  </a:lnTo>
                  <a:lnTo>
                    <a:pt x="4187126" y="9969"/>
                  </a:lnTo>
                  <a:lnTo>
                    <a:pt x="4176307" y="2674"/>
                  </a:lnTo>
                  <a:lnTo>
                    <a:pt x="4163059" y="0"/>
                  </a:lnTo>
                  <a:close/>
                </a:path>
              </a:pathLst>
            </a:custGeom>
            <a:solidFill>
              <a:srgbClr val="373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43728" y="3272027"/>
              <a:ext cx="681355" cy="680085"/>
            </a:xfrm>
            <a:custGeom>
              <a:avLst/>
              <a:gdLst/>
              <a:ahLst/>
              <a:cxnLst/>
              <a:rect l="l" t="t" r="r" b="b"/>
              <a:pathLst>
                <a:path w="681354" h="680085">
                  <a:moveTo>
                    <a:pt x="341375" y="0"/>
                  </a:moveTo>
                  <a:lnTo>
                    <a:pt x="339851" y="0"/>
                  </a:lnTo>
                  <a:lnTo>
                    <a:pt x="293733" y="3102"/>
                  </a:lnTo>
                  <a:lnTo>
                    <a:pt x="249502" y="12139"/>
                  </a:lnTo>
                  <a:lnTo>
                    <a:pt x="207561" y="26705"/>
                  </a:lnTo>
                  <a:lnTo>
                    <a:pt x="168317" y="46397"/>
                  </a:lnTo>
                  <a:lnTo>
                    <a:pt x="132173" y="70809"/>
                  </a:lnTo>
                  <a:lnTo>
                    <a:pt x="99536" y="99536"/>
                  </a:lnTo>
                  <a:lnTo>
                    <a:pt x="70809" y="132173"/>
                  </a:lnTo>
                  <a:lnTo>
                    <a:pt x="46397" y="168317"/>
                  </a:lnTo>
                  <a:lnTo>
                    <a:pt x="26705" y="207561"/>
                  </a:lnTo>
                  <a:lnTo>
                    <a:pt x="12139" y="249502"/>
                  </a:lnTo>
                  <a:lnTo>
                    <a:pt x="3102" y="293733"/>
                  </a:lnTo>
                  <a:lnTo>
                    <a:pt x="0" y="339851"/>
                  </a:lnTo>
                  <a:lnTo>
                    <a:pt x="3102" y="385970"/>
                  </a:lnTo>
                  <a:lnTo>
                    <a:pt x="12139" y="430201"/>
                  </a:lnTo>
                  <a:lnTo>
                    <a:pt x="26705" y="472142"/>
                  </a:lnTo>
                  <a:lnTo>
                    <a:pt x="46397" y="511386"/>
                  </a:lnTo>
                  <a:lnTo>
                    <a:pt x="70809" y="547530"/>
                  </a:lnTo>
                  <a:lnTo>
                    <a:pt x="99536" y="580167"/>
                  </a:lnTo>
                  <a:lnTo>
                    <a:pt x="132173" y="608894"/>
                  </a:lnTo>
                  <a:lnTo>
                    <a:pt x="168317" y="633306"/>
                  </a:lnTo>
                  <a:lnTo>
                    <a:pt x="207561" y="652998"/>
                  </a:lnTo>
                  <a:lnTo>
                    <a:pt x="249502" y="667564"/>
                  </a:lnTo>
                  <a:lnTo>
                    <a:pt x="293733" y="676601"/>
                  </a:lnTo>
                  <a:lnTo>
                    <a:pt x="339851" y="679704"/>
                  </a:lnTo>
                  <a:lnTo>
                    <a:pt x="341375" y="679704"/>
                  </a:lnTo>
                  <a:lnTo>
                    <a:pt x="387494" y="676601"/>
                  </a:lnTo>
                  <a:lnTo>
                    <a:pt x="431725" y="667564"/>
                  </a:lnTo>
                  <a:lnTo>
                    <a:pt x="473666" y="652998"/>
                  </a:lnTo>
                  <a:lnTo>
                    <a:pt x="512910" y="633306"/>
                  </a:lnTo>
                  <a:lnTo>
                    <a:pt x="549054" y="608894"/>
                  </a:lnTo>
                  <a:lnTo>
                    <a:pt x="581691" y="580167"/>
                  </a:lnTo>
                  <a:lnTo>
                    <a:pt x="610418" y="547530"/>
                  </a:lnTo>
                  <a:lnTo>
                    <a:pt x="634830" y="511386"/>
                  </a:lnTo>
                  <a:lnTo>
                    <a:pt x="654522" y="472142"/>
                  </a:lnTo>
                  <a:lnTo>
                    <a:pt x="669088" y="430201"/>
                  </a:lnTo>
                  <a:lnTo>
                    <a:pt x="678125" y="385970"/>
                  </a:lnTo>
                  <a:lnTo>
                    <a:pt x="681227" y="339851"/>
                  </a:lnTo>
                  <a:lnTo>
                    <a:pt x="678125" y="293733"/>
                  </a:lnTo>
                  <a:lnTo>
                    <a:pt x="669088" y="249502"/>
                  </a:lnTo>
                  <a:lnTo>
                    <a:pt x="654522" y="207561"/>
                  </a:lnTo>
                  <a:lnTo>
                    <a:pt x="634830" y="168317"/>
                  </a:lnTo>
                  <a:lnTo>
                    <a:pt x="610418" y="132173"/>
                  </a:lnTo>
                  <a:lnTo>
                    <a:pt x="581691" y="99536"/>
                  </a:lnTo>
                  <a:lnTo>
                    <a:pt x="549054" y="70809"/>
                  </a:lnTo>
                  <a:lnTo>
                    <a:pt x="512910" y="46397"/>
                  </a:lnTo>
                  <a:lnTo>
                    <a:pt x="473666" y="26705"/>
                  </a:lnTo>
                  <a:lnTo>
                    <a:pt x="431725" y="12139"/>
                  </a:lnTo>
                  <a:lnTo>
                    <a:pt x="387494" y="3102"/>
                  </a:lnTo>
                  <a:lnTo>
                    <a:pt x="341375" y="0"/>
                  </a:lnTo>
                  <a:close/>
                </a:path>
              </a:pathLst>
            </a:custGeom>
            <a:solidFill>
              <a:srgbClr val="C49F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31180" y="3457955"/>
              <a:ext cx="306324" cy="306324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5431663" y="4154551"/>
            <a:ext cx="3691890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Public</a:t>
            </a:r>
            <a:r>
              <a:rPr sz="2200" spc="-7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Opinion</a:t>
            </a:r>
            <a:r>
              <a:rPr sz="2200" spc="-7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Insights</a:t>
            </a:r>
            <a:endParaRPr sz="2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381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analysis</a:t>
            </a:r>
            <a:r>
              <a:rPr sz="17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enables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organizations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to understand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public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opinion,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track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brand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perception,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and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identify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emerging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trends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in</a:t>
            </a:r>
            <a:r>
              <a:rPr sz="1750" spc="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real-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time</a:t>
            </a:r>
            <a:endParaRPr sz="1750">
              <a:latin typeface="Times New Roman"/>
              <a:cs typeface="Times New Roman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9640823" y="3044951"/>
            <a:ext cx="4196080" cy="3302635"/>
            <a:chOff x="9640823" y="3044951"/>
            <a:chExt cx="4196080" cy="3302635"/>
          </a:xfrm>
        </p:grpSpPr>
        <p:sp>
          <p:nvSpPr>
            <p:cNvPr id="14" name="object 14"/>
            <p:cNvSpPr/>
            <p:nvPr/>
          </p:nvSpPr>
          <p:spPr>
            <a:xfrm>
              <a:off x="9640823" y="3044951"/>
              <a:ext cx="4196080" cy="3302635"/>
            </a:xfrm>
            <a:custGeom>
              <a:avLst/>
              <a:gdLst/>
              <a:ahLst/>
              <a:cxnLst/>
              <a:rect l="l" t="t" r="r" b="b"/>
              <a:pathLst>
                <a:path w="4196080" h="3302635">
                  <a:moveTo>
                    <a:pt x="4161535" y="0"/>
                  </a:moveTo>
                  <a:lnTo>
                    <a:pt x="34035" y="0"/>
                  </a:lnTo>
                  <a:lnTo>
                    <a:pt x="20788" y="2674"/>
                  </a:lnTo>
                  <a:lnTo>
                    <a:pt x="9969" y="9969"/>
                  </a:lnTo>
                  <a:lnTo>
                    <a:pt x="2674" y="20788"/>
                  </a:lnTo>
                  <a:lnTo>
                    <a:pt x="0" y="34036"/>
                  </a:lnTo>
                  <a:lnTo>
                    <a:pt x="0" y="3268472"/>
                  </a:lnTo>
                  <a:lnTo>
                    <a:pt x="2674" y="3281719"/>
                  </a:lnTo>
                  <a:lnTo>
                    <a:pt x="9969" y="3292538"/>
                  </a:lnTo>
                  <a:lnTo>
                    <a:pt x="20788" y="3299833"/>
                  </a:lnTo>
                  <a:lnTo>
                    <a:pt x="34035" y="3302508"/>
                  </a:lnTo>
                  <a:lnTo>
                    <a:pt x="4161535" y="3302508"/>
                  </a:lnTo>
                  <a:lnTo>
                    <a:pt x="4174783" y="3299833"/>
                  </a:lnTo>
                  <a:lnTo>
                    <a:pt x="4185602" y="3292538"/>
                  </a:lnTo>
                  <a:lnTo>
                    <a:pt x="4192897" y="3281719"/>
                  </a:lnTo>
                  <a:lnTo>
                    <a:pt x="4195572" y="3268472"/>
                  </a:lnTo>
                  <a:lnTo>
                    <a:pt x="4195572" y="34036"/>
                  </a:lnTo>
                  <a:lnTo>
                    <a:pt x="4192897" y="20788"/>
                  </a:lnTo>
                  <a:lnTo>
                    <a:pt x="4185602" y="9969"/>
                  </a:lnTo>
                  <a:lnTo>
                    <a:pt x="4174783" y="2674"/>
                  </a:lnTo>
                  <a:lnTo>
                    <a:pt x="4161535" y="0"/>
                  </a:lnTo>
                  <a:close/>
                </a:path>
              </a:pathLst>
            </a:custGeom>
            <a:solidFill>
              <a:srgbClr val="3734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866375" y="3272027"/>
              <a:ext cx="681355" cy="680085"/>
            </a:xfrm>
            <a:custGeom>
              <a:avLst/>
              <a:gdLst/>
              <a:ahLst/>
              <a:cxnLst/>
              <a:rect l="l" t="t" r="r" b="b"/>
              <a:pathLst>
                <a:path w="681354" h="680085">
                  <a:moveTo>
                    <a:pt x="341375" y="0"/>
                  </a:moveTo>
                  <a:lnTo>
                    <a:pt x="339851" y="0"/>
                  </a:lnTo>
                  <a:lnTo>
                    <a:pt x="293733" y="3102"/>
                  </a:lnTo>
                  <a:lnTo>
                    <a:pt x="249502" y="12139"/>
                  </a:lnTo>
                  <a:lnTo>
                    <a:pt x="207561" y="26705"/>
                  </a:lnTo>
                  <a:lnTo>
                    <a:pt x="168317" y="46397"/>
                  </a:lnTo>
                  <a:lnTo>
                    <a:pt x="132173" y="70809"/>
                  </a:lnTo>
                  <a:lnTo>
                    <a:pt x="99536" y="99536"/>
                  </a:lnTo>
                  <a:lnTo>
                    <a:pt x="70809" y="132173"/>
                  </a:lnTo>
                  <a:lnTo>
                    <a:pt x="46397" y="168317"/>
                  </a:lnTo>
                  <a:lnTo>
                    <a:pt x="26705" y="207561"/>
                  </a:lnTo>
                  <a:lnTo>
                    <a:pt x="12139" y="249502"/>
                  </a:lnTo>
                  <a:lnTo>
                    <a:pt x="3102" y="293733"/>
                  </a:lnTo>
                  <a:lnTo>
                    <a:pt x="0" y="339851"/>
                  </a:lnTo>
                  <a:lnTo>
                    <a:pt x="3102" y="385970"/>
                  </a:lnTo>
                  <a:lnTo>
                    <a:pt x="12139" y="430201"/>
                  </a:lnTo>
                  <a:lnTo>
                    <a:pt x="26705" y="472142"/>
                  </a:lnTo>
                  <a:lnTo>
                    <a:pt x="46397" y="511386"/>
                  </a:lnTo>
                  <a:lnTo>
                    <a:pt x="70809" y="547530"/>
                  </a:lnTo>
                  <a:lnTo>
                    <a:pt x="99536" y="580167"/>
                  </a:lnTo>
                  <a:lnTo>
                    <a:pt x="132173" y="608894"/>
                  </a:lnTo>
                  <a:lnTo>
                    <a:pt x="168317" y="633306"/>
                  </a:lnTo>
                  <a:lnTo>
                    <a:pt x="207561" y="652998"/>
                  </a:lnTo>
                  <a:lnTo>
                    <a:pt x="249502" y="667564"/>
                  </a:lnTo>
                  <a:lnTo>
                    <a:pt x="293733" y="676601"/>
                  </a:lnTo>
                  <a:lnTo>
                    <a:pt x="339851" y="679704"/>
                  </a:lnTo>
                  <a:lnTo>
                    <a:pt x="341375" y="679704"/>
                  </a:lnTo>
                  <a:lnTo>
                    <a:pt x="387494" y="676601"/>
                  </a:lnTo>
                  <a:lnTo>
                    <a:pt x="431725" y="667564"/>
                  </a:lnTo>
                  <a:lnTo>
                    <a:pt x="473666" y="652998"/>
                  </a:lnTo>
                  <a:lnTo>
                    <a:pt x="512910" y="633306"/>
                  </a:lnTo>
                  <a:lnTo>
                    <a:pt x="549054" y="608894"/>
                  </a:lnTo>
                  <a:lnTo>
                    <a:pt x="581691" y="580167"/>
                  </a:lnTo>
                  <a:lnTo>
                    <a:pt x="610418" y="547530"/>
                  </a:lnTo>
                  <a:lnTo>
                    <a:pt x="634830" y="511386"/>
                  </a:lnTo>
                  <a:lnTo>
                    <a:pt x="654522" y="472142"/>
                  </a:lnTo>
                  <a:lnTo>
                    <a:pt x="669088" y="430201"/>
                  </a:lnTo>
                  <a:lnTo>
                    <a:pt x="678125" y="385970"/>
                  </a:lnTo>
                  <a:lnTo>
                    <a:pt x="681227" y="339851"/>
                  </a:lnTo>
                  <a:lnTo>
                    <a:pt x="678125" y="293733"/>
                  </a:lnTo>
                  <a:lnTo>
                    <a:pt x="669088" y="249502"/>
                  </a:lnTo>
                  <a:lnTo>
                    <a:pt x="654522" y="207561"/>
                  </a:lnTo>
                  <a:lnTo>
                    <a:pt x="634830" y="168317"/>
                  </a:lnTo>
                  <a:lnTo>
                    <a:pt x="610418" y="132173"/>
                  </a:lnTo>
                  <a:lnTo>
                    <a:pt x="581691" y="99536"/>
                  </a:lnTo>
                  <a:lnTo>
                    <a:pt x="549054" y="70809"/>
                  </a:lnTo>
                  <a:lnTo>
                    <a:pt x="512910" y="46397"/>
                  </a:lnTo>
                  <a:lnTo>
                    <a:pt x="473666" y="26705"/>
                  </a:lnTo>
                  <a:lnTo>
                    <a:pt x="431725" y="12139"/>
                  </a:lnTo>
                  <a:lnTo>
                    <a:pt x="387494" y="3102"/>
                  </a:lnTo>
                  <a:lnTo>
                    <a:pt x="341375" y="0"/>
                  </a:lnTo>
                  <a:close/>
                </a:path>
              </a:pathLst>
            </a:custGeom>
            <a:solidFill>
              <a:srgbClr val="C49F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053827" y="3457955"/>
              <a:ext cx="306324" cy="306324"/>
            </a:xfrm>
            <a:prstGeom prst="rect">
              <a:avLst/>
            </a:prstGeom>
          </p:spPr>
        </p:pic>
      </p:grpSp>
      <p:sp>
        <p:nvSpPr>
          <p:cNvPr id="17" name="object 17"/>
          <p:cNvSpPr txBox="1"/>
          <p:nvPr/>
        </p:nvSpPr>
        <p:spPr>
          <a:xfrm>
            <a:off x="9855200" y="4154551"/>
            <a:ext cx="3760470" cy="19538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Automated</a:t>
            </a:r>
            <a:r>
              <a:rPr sz="2200" spc="-10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Classification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1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Natural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Language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Processing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and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Machine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Learning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techniques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automate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classification,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replacing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manual annotation</a:t>
            </a:r>
            <a:endParaRPr sz="1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1304" y="1139189"/>
            <a:ext cx="4344670" cy="704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Problem</a:t>
            </a:r>
            <a:r>
              <a:rPr spc="-95" dirty="0"/>
              <a:t> </a:t>
            </a:r>
            <a:r>
              <a:rPr spc="-10" dirty="0"/>
              <a:t>Statement</a:t>
            </a:r>
          </a:p>
        </p:txBody>
      </p:sp>
      <p:sp>
        <p:nvSpPr>
          <p:cNvPr id="3" name="object 3"/>
          <p:cNvSpPr/>
          <p:nvPr/>
        </p:nvSpPr>
        <p:spPr>
          <a:xfrm>
            <a:off x="794004" y="2487167"/>
            <a:ext cx="510540" cy="510540"/>
          </a:xfrm>
          <a:custGeom>
            <a:avLst/>
            <a:gdLst/>
            <a:ahLst/>
            <a:cxnLst/>
            <a:rect l="l" t="t" r="r" b="b"/>
            <a:pathLst>
              <a:path w="510540" h="510539">
                <a:moveTo>
                  <a:pt x="476504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476504"/>
                </a:lnTo>
                <a:lnTo>
                  <a:pt x="2674" y="489751"/>
                </a:lnTo>
                <a:lnTo>
                  <a:pt x="9969" y="500570"/>
                </a:lnTo>
                <a:lnTo>
                  <a:pt x="20788" y="507865"/>
                </a:lnTo>
                <a:lnTo>
                  <a:pt x="34036" y="510540"/>
                </a:lnTo>
                <a:lnTo>
                  <a:pt x="476504" y="510540"/>
                </a:lnTo>
                <a:lnTo>
                  <a:pt x="489751" y="507865"/>
                </a:lnTo>
                <a:lnTo>
                  <a:pt x="500570" y="500570"/>
                </a:lnTo>
                <a:lnTo>
                  <a:pt x="507865" y="489751"/>
                </a:lnTo>
                <a:lnTo>
                  <a:pt x="510539" y="476504"/>
                </a:lnTo>
                <a:lnTo>
                  <a:pt x="510539" y="34036"/>
                </a:lnTo>
                <a:lnTo>
                  <a:pt x="507865" y="20788"/>
                </a:lnTo>
                <a:lnTo>
                  <a:pt x="500570" y="9969"/>
                </a:lnTo>
                <a:lnTo>
                  <a:pt x="489751" y="2674"/>
                </a:lnTo>
                <a:lnTo>
                  <a:pt x="476504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64183" y="2435732"/>
            <a:ext cx="170180" cy="429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50" spc="-50" dirty="0">
                <a:solidFill>
                  <a:srgbClr val="C8C2C0"/>
                </a:solidFill>
                <a:latin typeface="Georgia"/>
                <a:cs typeface="Georgia"/>
              </a:rPr>
              <a:t>1</a:t>
            </a:r>
            <a:endParaRPr sz="2650">
              <a:latin typeface="Georgia"/>
              <a:cs typeface="Georg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18285" y="2520848"/>
            <a:ext cx="1910714" cy="735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5900"/>
              </a:lnSpc>
              <a:spcBef>
                <a:spcPts val="100"/>
              </a:spcBef>
            </a:pP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Manual</a:t>
            </a:r>
            <a:r>
              <a:rPr sz="2200" spc="-10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Analysis Inefficiency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18285" y="3439972"/>
            <a:ext cx="3249930" cy="1499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38100"/>
              </a:lnSpc>
              <a:spcBef>
                <a:spcPts val="105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Manual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analysis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becomes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impractical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with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thousands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of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tweets,</a:t>
            </a:r>
            <a:r>
              <a:rPr sz="17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requiring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excessive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time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and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resources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077967" y="2487167"/>
            <a:ext cx="510540" cy="510540"/>
          </a:xfrm>
          <a:custGeom>
            <a:avLst/>
            <a:gdLst/>
            <a:ahLst/>
            <a:cxnLst/>
            <a:rect l="l" t="t" r="r" b="b"/>
            <a:pathLst>
              <a:path w="510539" h="510539">
                <a:moveTo>
                  <a:pt x="476504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476504"/>
                </a:lnTo>
                <a:lnTo>
                  <a:pt x="2674" y="489751"/>
                </a:lnTo>
                <a:lnTo>
                  <a:pt x="9969" y="500570"/>
                </a:lnTo>
                <a:lnTo>
                  <a:pt x="20788" y="507865"/>
                </a:lnTo>
                <a:lnTo>
                  <a:pt x="34036" y="510540"/>
                </a:lnTo>
                <a:lnTo>
                  <a:pt x="476504" y="510540"/>
                </a:lnTo>
                <a:lnTo>
                  <a:pt x="489751" y="507865"/>
                </a:lnTo>
                <a:lnTo>
                  <a:pt x="500570" y="500570"/>
                </a:lnTo>
                <a:lnTo>
                  <a:pt x="507865" y="489751"/>
                </a:lnTo>
                <a:lnTo>
                  <a:pt x="510540" y="476504"/>
                </a:lnTo>
                <a:lnTo>
                  <a:pt x="510540" y="34036"/>
                </a:lnTo>
                <a:lnTo>
                  <a:pt x="507865" y="20788"/>
                </a:lnTo>
                <a:lnTo>
                  <a:pt x="500570" y="9969"/>
                </a:lnTo>
                <a:lnTo>
                  <a:pt x="489751" y="2674"/>
                </a:lnTo>
                <a:lnTo>
                  <a:pt x="476504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226811" y="2435732"/>
            <a:ext cx="213995" cy="429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50" spc="-50" dirty="0">
                <a:solidFill>
                  <a:srgbClr val="C8C2C0"/>
                </a:solidFill>
                <a:latin typeface="Georgia"/>
                <a:cs typeface="Georgia"/>
              </a:rPr>
              <a:t>2</a:t>
            </a:r>
            <a:endParaRPr sz="2650">
              <a:latin typeface="Georgia"/>
              <a:cs typeface="Georg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802629" y="2541269"/>
            <a:ext cx="24898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Noisy</a:t>
            </a:r>
            <a:r>
              <a:rPr sz="22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Data</a:t>
            </a:r>
            <a:r>
              <a:rPr sz="22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Challenge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02629" y="3086151"/>
            <a:ext cx="3102610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8300"/>
              </a:lnSpc>
              <a:spcBef>
                <a:spcPts val="10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Social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media</a:t>
            </a:r>
            <a:r>
              <a:rPr sz="1750" spc="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data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contains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emojis,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hashtags,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slang,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and typos 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that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complicate</a:t>
            </a:r>
            <a:r>
              <a:rPr sz="17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automated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processing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794004" y="5405628"/>
            <a:ext cx="510540" cy="510540"/>
          </a:xfrm>
          <a:custGeom>
            <a:avLst/>
            <a:gdLst/>
            <a:ahLst/>
            <a:cxnLst/>
            <a:rect l="l" t="t" r="r" b="b"/>
            <a:pathLst>
              <a:path w="510540" h="510539">
                <a:moveTo>
                  <a:pt x="476504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476504"/>
                </a:lnTo>
                <a:lnTo>
                  <a:pt x="2674" y="489751"/>
                </a:lnTo>
                <a:lnTo>
                  <a:pt x="9969" y="500570"/>
                </a:lnTo>
                <a:lnTo>
                  <a:pt x="20788" y="507865"/>
                </a:lnTo>
                <a:lnTo>
                  <a:pt x="34036" y="510540"/>
                </a:lnTo>
                <a:lnTo>
                  <a:pt x="476504" y="510540"/>
                </a:lnTo>
                <a:lnTo>
                  <a:pt x="489751" y="507865"/>
                </a:lnTo>
                <a:lnTo>
                  <a:pt x="500570" y="500570"/>
                </a:lnTo>
                <a:lnTo>
                  <a:pt x="507865" y="489751"/>
                </a:lnTo>
                <a:lnTo>
                  <a:pt x="510539" y="476504"/>
                </a:lnTo>
                <a:lnTo>
                  <a:pt x="510539" y="34036"/>
                </a:lnTo>
                <a:lnTo>
                  <a:pt x="507865" y="20788"/>
                </a:lnTo>
                <a:lnTo>
                  <a:pt x="500570" y="9969"/>
                </a:lnTo>
                <a:lnTo>
                  <a:pt x="489751" y="2674"/>
                </a:lnTo>
                <a:lnTo>
                  <a:pt x="476504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42847" y="5354828"/>
            <a:ext cx="211454" cy="429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50" spc="-50" dirty="0">
                <a:solidFill>
                  <a:srgbClr val="C8C2C0"/>
                </a:solidFill>
                <a:latin typeface="Georgia"/>
                <a:cs typeface="Georgia"/>
              </a:rPr>
              <a:t>3</a:t>
            </a:r>
            <a:endParaRPr sz="2650">
              <a:latin typeface="Georgia"/>
              <a:cs typeface="Georg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518285" y="5460238"/>
            <a:ext cx="239776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Need</a:t>
            </a:r>
            <a:r>
              <a:rPr sz="220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2200" spc="-1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Automation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518285" y="6005245"/>
            <a:ext cx="7223759" cy="7632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8300"/>
              </a:lnSpc>
              <a:spcBef>
                <a:spcPts val="10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Automated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classification</a:t>
            </a:r>
            <a:r>
              <a:rPr sz="17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systems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are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essential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1750" spc="-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real-time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analysis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at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scale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476231" y="1819655"/>
            <a:ext cx="4531360" cy="4814570"/>
          </a:xfrm>
          <a:custGeom>
            <a:avLst/>
            <a:gdLst/>
            <a:ahLst/>
            <a:cxnLst/>
            <a:rect l="l" t="t" r="r" b="b"/>
            <a:pathLst>
              <a:path w="4531359" h="4814570">
                <a:moveTo>
                  <a:pt x="4496816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4780280"/>
                </a:lnTo>
                <a:lnTo>
                  <a:pt x="2674" y="4793527"/>
                </a:lnTo>
                <a:lnTo>
                  <a:pt x="9969" y="4804346"/>
                </a:lnTo>
                <a:lnTo>
                  <a:pt x="20788" y="4811641"/>
                </a:lnTo>
                <a:lnTo>
                  <a:pt x="34036" y="4814316"/>
                </a:lnTo>
                <a:lnTo>
                  <a:pt x="4496816" y="4814316"/>
                </a:lnTo>
                <a:lnTo>
                  <a:pt x="4510063" y="4811641"/>
                </a:lnTo>
                <a:lnTo>
                  <a:pt x="4520882" y="4804346"/>
                </a:lnTo>
                <a:lnTo>
                  <a:pt x="4528177" y="4793527"/>
                </a:lnTo>
                <a:lnTo>
                  <a:pt x="4530852" y="4780280"/>
                </a:lnTo>
                <a:lnTo>
                  <a:pt x="4530852" y="34036"/>
                </a:lnTo>
                <a:lnTo>
                  <a:pt x="4528177" y="20788"/>
                </a:lnTo>
                <a:lnTo>
                  <a:pt x="4520882" y="9969"/>
                </a:lnTo>
                <a:lnTo>
                  <a:pt x="4510063" y="2674"/>
                </a:lnTo>
                <a:lnTo>
                  <a:pt x="4496816" y="0"/>
                </a:lnTo>
                <a:close/>
              </a:path>
            </a:pathLst>
          </a:custGeom>
          <a:solidFill>
            <a:srgbClr val="C49F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690607" y="2434843"/>
            <a:ext cx="178498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Research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Focus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690607" y="2979852"/>
            <a:ext cx="3773804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8300"/>
              </a:lnSpc>
              <a:spcBef>
                <a:spcPts val="100"/>
              </a:spcBef>
            </a:pPr>
            <a:r>
              <a:rPr sz="1750" dirty="0">
                <a:latin typeface="Times New Roman"/>
                <a:cs typeface="Times New Roman"/>
              </a:rPr>
              <a:t>Developing</a:t>
            </a:r>
            <a:r>
              <a:rPr sz="1750" spc="-25" dirty="0">
                <a:latin typeface="Times New Roman"/>
                <a:cs typeface="Times New Roman"/>
              </a:rPr>
              <a:t> </a:t>
            </a:r>
            <a:r>
              <a:rPr sz="1750" dirty="0">
                <a:latin typeface="Times New Roman"/>
                <a:cs typeface="Times New Roman"/>
              </a:rPr>
              <a:t>ML</a:t>
            </a:r>
            <a:r>
              <a:rPr sz="1750" spc="-85" dirty="0">
                <a:latin typeface="Times New Roman"/>
                <a:cs typeface="Times New Roman"/>
              </a:rPr>
              <a:t> </a:t>
            </a:r>
            <a:r>
              <a:rPr sz="1750" dirty="0">
                <a:latin typeface="Times New Roman"/>
                <a:cs typeface="Times New Roman"/>
              </a:rPr>
              <a:t>models to classify</a:t>
            </a:r>
            <a:r>
              <a:rPr sz="1750" spc="-40" dirty="0">
                <a:latin typeface="Times New Roman"/>
                <a:cs typeface="Times New Roman"/>
              </a:rPr>
              <a:t> </a:t>
            </a:r>
            <a:r>
              <a:rPr sz="1750" spc="-20" dirty="0">
                <a:latin typeface="Times New Roman"/>
                <a:cs typeface="Times New Roman"/>
              </a:rPr>
              <a:t>SXSW </a:t>
            </a:r>
            <a:r>
              <a:rPr sz="1750" dirty="0">
                <a:latin typeface="Times New Roman"/>
                <a:cs typeface="Times New Roman"/>
              </a:rPr>
              <a:t>technology</a:t>
            </a:r>
            <a:r>
              <a:rPr sz="1750" spc="-40" dirty="0">
                <a:latin typeface="Times New Roman"/>
                <a:cs typeface="Times New Roman"/>
              </a:rPr>
              <a:t> </a:t>
            </a:r>
            <a:r>
              <a:rPr sz="1750" dirty="0">
                <a:latin typeface="Times New Roman"/>
                <a:cs typeface="Times New Roman"/>
              </a:rPr>
              <a:t>tweet</a:t>
            </a:r>
            <a:r>
              <a:rPr sz="1750" spc="-15" dirty="0">
                <a:latin typeface="Times New Roman"/>
                <a:cs typeface="Times New Roman"/>
              </a:rPr>
              <a:t> </a:t>
            </a:r>
            <a:r>
              <a:rPr sz="1750" dirty="0">
                <a:latin typeface="Times New Roman"/>
                <a:cs typeface="Times New Roman"/>
              </a:rPr>
              <a:t>sentiment</a:t>
            </a:r>
            <a:r>
              <a:rPr sz="1750" spc="-5" dirty="0">
                <a:latin typeface="Times New Roman"/>
                <a:cs typeface="Times New Roman"/>
              </a:rPr>
              <a:t> </a:t>
            </a:r>
            <a:r>
              <a:rPr sz="1750" spc="-10" dirty="0">
                <a:latin typeface="Times New Roman"/>
                <a:cs typeface="Times New Roman"/>
              </a:rPr>
              <a:t>accurately </a:t>
            </a:r>
            <a:r>
              <a:rPr sz="1750" dirty="0">
                <a:latin typeface="Times New Roman"/>
                <a:cs typeface="Times New Roman"/>
              </a:rPr>
              <a:t>despite</a:t>
            </a:r>
            <a:r>
              <a:rPr sz="1750" spc="-20" dirty="0">
                <a:latin typeface="Times New Roman"/>
                <a:cs typeface="Times New Roman"/>
              </a:rPr>
              <a:t> </a:t>
            </a:r>
            <a:r>
              <a:rPr sz="1750" dirty="0">
                <a:latin typeface="Times New Roman"/>
                <a:cs typeface="Times New Roman"/>
              </a:rPr>
              <a:t>class</a:t>
            </a:r>
            <a:r>
              <a:rPr sz="1750" spc="-20" dirty="0">
                <a:latin typeface="Times New Roman"/>
                <a:cs typeface="Times New Roman"/>
              </a:rPr>
              <a:t> </a:t>
            </a:r>
            <a:r>
              <a:rPr sz="1750" spc="-10" dirty="0">
                <a:latin typeface="Times New Roman"/>
                <a:cs typeface="Times New Roman"/>
              </a:rPr>
              <a:t>imbalance</a:t>
            </a:r>
            <a:endParaRPr sz="1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67958" y="896492"/>
            <a:ext cx="4093210" cy="704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Dataset</a:t>
            </a:r>
            <a:r>
              <a:rPr spc="-145" dirty="0"/>
              <a:t> </a:t>
            </a:r>
            <a:r>
              <a:rPr spc="-10" dirty="0"/>
              <a:t>Overview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265164" y="1975104"/>
            <a:ext cx="3695700" cy="3371215"/>
            <a:chOff x="6265164" y="1975104"/>
            <a:chExt cx="3695700" cy="3371215"/>
          </a:xfrm>
        </p:grpSpPr>
        <p:sp>
          <p:nvSpPr>
            <p:cNvPr id="4" name="object 4"/>
            <p:cNvSpPr/>
            <p:nvPr/>
          </p:nvSpPr>
          <p:spPr>
            <a:xfrm>
              <a:off x="6280404" y="1990344"/>
              <a:ext cx="3665220" cy="3340735"/>
            </a:xfrm>
            <a:custGeom>
              <a:avLst/>
              <a:gdLst/>
              <a:ahLst/>
              <a:cxnLst/>
              <a:rect l="l" t="t" r="r" b="b"/>
              <a:pathLst>
                <a:path w="3665220" h="3340735">
                  <a:moveTo>
                    <a:pt x="3631184" y="0"/>
                  </a:moveTo>
                  <a:lnTo>
                    <a:pt x="34036" y="0"/>
                  </a:lnTo>
                  <a:lnTo>
                    <a:pt x="20788" y="2674"/>
                  </a:lnTo>
                  <a:lnTo>
                    <a:pt x="9969" y="9969"/>
                  </a:lnTo>
                  <a:lnTo>
                    <a:pt x="2674" y="20788"/>
                  </a:lnTo>
                  <a:lnTo>
                    <a:pt x="0" y="34035"/>
                  </a:lnTo>
                  <a:lnTo>
                    <a:pt x="0" y="3306572"/>
                  </a:lnTo>
                  <a:lnTo>
                    <a:pt x="2674" y="3319819"/>
                  </a:lnTo>
                  <a:lnTo>
                    <a:pt x="9969" y="3330638"/>
                  </a:lnTo>
                  <a:lnTo>
                    <a:pt x="20788" y="3337933"/>
                  </a:lnTo>
                  <a:lnTo>
                    <a:pt x="34036" y="3340607"/>
                  </a:lnTo>
                  <a:lnTo>
                    <a:pt x="3631184" y="3340607"/>
                  </a:lnTo>
                  <a:lnTo>
                    <a:pt x="3644431" y="3337933"/>
                  </a:lnTo>
                  <a:lnTo>
                    <a:pt x="3655250" y="3330638"/>
                  </a:lnTo>
                  <a:lnTo>
                    <a:pt x="3662545" y="3319819"/>
                  </a:lnTo>
                  <a:lnTo>
                    <a:pt x="3665220" y="3306572"/>
                  </a:lnTo>
                  <a:lnTo>
                    <a:pt x="3665220" y="34035"/>
                  </a:lnTo>
                  <a:lnTo>
                    <a:pt x="3662545" y="20788"/>
                  </a:lnTo>
                  <a:lnTo>
                    <a:pt x="3655250" y="9969"/>
                  </a:lnTo>
                  <a:lnTo>
                    <a:pt x="3644431" y="2674"/>
                  </a:lnTo>
                  <a:lnTo>
                    <a:pt x="3631184" y="0"/>
                  </a:lnTo>
                  <a:close/>
                </a:path>
              </a:pathLst>
            </a:custGeom>
            <a:solidFill>
              <a:srgbClr val="46434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6280404" y="1990344"/>
              <a:ext cx="3665220" cy="3340735"/>
            </a:xfrm>
            <a:custGeom>
              <a:avLst/>
              <a:gdLst/>
              <a:ahLst/>
              <a:cxnLst/>
              <a:rect l="l" t="t" r="r" b="b"/>
              <a:pathLst>
                <a:path w="3665220" h="3340735">
                  <a:moveTo>
                    <a:pt x="0" y="34035"/>
                  </a:moveTo>
                  <a:lnTo>
                    <a:pt x="2674" y="20788"/>
                  </a:lnTo>
                  <a:lnTo>
                    <a:pt x="9969" y="9969"/>
                  </a:lnTo>
                  <a:lnTo>
                    <a:pt x="20788" y="2674"/>
                  </a:lnTo>
                  <a:lnTo>
                    <a:pt x="34036" y="0"/>
                  </a:lnTo>
                  <a:lnTo>
                    <a:pt x="3631184" y="0"/>
                  </a:lnTo>
                  <a:lnTo>
                    <a:pt x="3644431" y="2674"/>
                  </a:lnTo>
                  <a:lnTo>
                    <a:pt x="3655250" y="9969"/>
                  </a:lnTo>
                  <a:lnTo>
                    <a:pt x="3662545" y="20788"/>
                  </a:lnTo>
                  <a:lnTo>
                    <a:pt x="3665220" y="34035"/>
                  </a:lnTo>
                  <a:lnTo>
                    <a:pt x="3665220" y="3306572"/>
                  </a:lnTo>
                  <a:lnTo>
                    <a:pt x="3662545" y="3319819"/>
                  </a:lnTo>
                  <a:lnTo>
                    <a:pt x="3655250" y="3330638"/>
                  </a:lnTo>
                  <a:lnTo>
                    <a:pt x="3644431" y="3337933"/>
                  </a:lnTo>
                  <a:lnTo>
                    <a:pt x="3631184" y="3340607"/>
                  </a:lnTo>
                  <a:lnTo>
                    <a:pt x="34036" y="3340607"/>
                  </a:lnTo>
                  <a:lnTo>
                    <a:pt x="20788" y="3337933"/>
                  </a:lnTo>
                  <a:lnTo>
                    <a:pt x="9969" y="3330638"/>
                  </a:lnTo>
                  <a:lnTo>
                    <a:pt x="2674" y="3319819"/>
                  </a:lnTo>
                  <a:lnTo>
                    <a:pt x="0" y="3306572"/>
                  </a:lnTo>
                  <a:lnTo>
                    <a:pt x="0" y="34035"/>
                  </a:lnTo>
                  <a:close/>
                </a:path>
              </a:pathLst>
            </a:custGeom>
            <a:ln w="30480">
              <a:solidFill>
                <a:srgbClr val="504D4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525259" y="2222754"/>
            <a:ext cx="3130550" cy="1586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Source</a:t>
            </a:r>
            <a:r>
              <a:rPr sz="22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20" dirty="0">
                <a:solidFill>
                  <a:srgbClr val="C8C2C0"/>
                </a:solidFill>
                <a:latin typeface="Times New Roman"/>
                <a:cs typeface="Times New Roman"/>
              </a:rPr>
              <a:t>Data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Tweets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mentioning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technology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products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during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SXSW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conference events</a:t>
            </a:r>
            <a:endParaRPr sz="1750">
              <a:latin typeface="Times New Roman"/>
              <a:cs typeface="Times New Roman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10155935" y="1975104"/>
            <a:ext cx="3695700" cy="3371215"/>
            <a:chOff x="10155935" y="1975104"/>
            <a:chExt cx="3695700" cy="3371215"/>
          </a:xfrm>
        </p:grpSpPr>
        <p:sp>
          <p:nvSpPr>
            <p:cNvPr id="8" name="object 8"/>
            <p:cNvSpPr/>
            <p:nvPr/>
          </p:nvSpPr>
          <p:spPr>
            <a:xfrm>
              <a:off x="10171175" y="1990344"/>
              <a:ext cx="3665220" cy="3340735"/>
            </a:xfrm>
            <a:custGeom>
              <a:avLst/>
              <a:gdLst/>
              <a:ahLst/>
              <a:cxnLst/>
              <a:rect l="l" t="t" r="r" b="b"/>
              <a:pathLst>
                <a:path w="3665219" h="3340735">
                  <a:moveTo>
                    <a:pt x="3631183" y="0"/>
                  </a:moveTo>
                  <a:lnTo>
                    <a:pt x="34035" y="0"/>
                  </a:lnTo>
                  <a:lnTo>
                    <a:pt x="20788" y="2674"/>
                  </a:lnTo>
                  <a:lnTo>
                    <a:pt x="9969" y="9969"/>
                  </a:lnTo>
                  <a:lnTo>
                    <a:pt x="2674" y="20788"/>
                  </a:lnTo>
                  <a:lnTo>
                    <a:pt x="0" y="34035"/>
                  </a:lnTo>
                  <a:lnTo>
                    <a:pt x="0" y="3306572"/>
                  </a:lnTo>
                  <a:lnTo>
                    <a:pt x="2674" y="3319819"/>
                  </a:lnTo>
                  <a:lnTo>
                    <a:pt x="9969" y="3330638"/>
                  </a:lnTo>
                  <a:lnTo>
                    <a:pt x="20788" y="3337933"/>
                  </a:lnTo>
                  <a:lnTo>
                    <a:pt x="34035" y="3340607"/>
                  </a:lnTo>
                  <a:lnTo>
                    <a:pt x="3631183" y="3340607"/>
                  </a:lnTo>
                  <a:lnTo>
                    <a:pt x="3644431" y="3337933"/>
                  </a:lnTo>
                  <a:lnTo>
                    <a:pt x="3655250" y="3330638"/>
                  </a:lnTo>
                  <a:lnTo>
                    <a:pt x="3662545" y="3319819"/>
                  </a:lnTo>
                  <a:lnTo>
                    <a:pt x="3665220" y="3306572"/>
                  </a:lnTo>
                  <a:lnTo>
                    <a:pt x="3665220" y="34035"/>
                  </a:lnTo>
                  <a:lnTo>
                    <a:pt x="3662545" y="20788"/>
                  </a:lnTo>
                  <a:lnTo>
                    <a:pt x="3655250" y="9969"/>
                  </a:lnTo>
                  <a:lnTo>
                    <a:pt x="3644431" y="2674"/>
                  </a:lnTo>
                  <a:lnTo>
                    <a:pt x="3631183" y="0"/>
                  </a:lnTo>
                  <a:close/>
                </a:path>
              </a:pathLst>
            </a:custGeom>
            <a:solidFill>
              <a:srgbClr val="46434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171175" y="1990344"/>
              <a:ext cx="3665220" cy="3340735"/>
            </a:xfrm>
            <a:custGeom>
              <a:avLst/>
              <a:gdLst/>
              <a:ahLst/>
              <a:cxnLst/>
              <a:rect l="l" t="t" r="r" b="b"/>
              <a:pathLst>
                <a:path w="3665219" h="3340735">
                  <a:moveTo>
                    <a:pt x="0" y="34035"/>
                  </a:moveTo>
                  <a:lnTo>
                    <a:pt x="2674" y="20788"/>
                  </a:lnTo>
                  <a:lnTo>
                    <a:pt x="9969" y="9969"/>
                  </a:lnTo>
                  <a:lnTo>
                    <a:pt x="20788" y="2674"/>
                  </a:lnTo>
                  <a:lnTo>
                    <a:pt x="34035" y="0"/>
                  </a:lnTo>
                  <a:lnTo>
                    <a:pt x="3631183" y="0"/>
                  </a:lnTo>
                  <a:lnTo>
                    <a:pt x="3644431" y="2674"/>
                  </a:lnTo>
                  <a:lnTo>
                    <a:pt x="3655250" y="9969"/>
                  </a:lnTo>
                  <a:lnTo>
                    <a:pt x="3662545" y="20788"/>
                  </a:lnTo>
                  <a:lnTo>
                    <a:pt x="3665220" y="34035"/>
                  </a:lnTo>
                  <a:lnTo>
                    <a:pt x="3665220" y="3306572"/>
                  </a:lnTo>
                  <a:lnTo>
                    <a:pt x="3662545" y="3319819"/>
                  </a:lnTo>
                  <a:lnTo>
                    <a:pt x="3655250" y="3330638"/>
                  </a:lnTo>
                  <a:lnTo>
                    <a:pt x="3644431" y="3337933"/>
                  </a:lnTo>
                  <a:lnTo>
                    <a:pt x="3631183" y="3340607"/>
                  </a:lnTo>
                  <a:lnTo>
                    <a:pt x="34035" y="3340607"/>
                  </a:lnTo>
                  <a:lnTo>
                    <a:pt x="20788" y="3337933"/>
                  </a:lnTo>
                  <a:lnTo>
                    <a:pt x="9969" y="3330638"/>
                  </a:lnTo>
                  <a:lnTo>
                    <a:pt x="2674" y="3319819"/>
                  </a:lnTo>
                  <a:lnTo>
                    <a:pt x="0" y="3306572"/>
                  </a:lnTo>
                  <a:lnTo>
                    <a:pt x="0" y="34035"/>
                  </a:lnTo>
                  <a:close/>
                </a:path>
              </a:pathLst>
            </a:custGeom>
            <a:ln w="30480">
              <a:solidFill>
                <a:srgbClr val="504D4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0417302" y="2222754"/>
            <a:ext cx="150495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Key</a:t>
            </a:r>
            <a:r>
              <a:rPr sz="22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Features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417302" y="2677210"/>
            <a:ext cx="3016250" cy="1868170"/>
          </a:xfrm>
          <a:prstGeom prst="rect">
            <a:avLst/>
          </a:prstGeom>
        </p:spPr>
        <p:txBody>
          <a:bodyPr vert="horz" wrap="square" lIns="0" tIns="11430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00"/>
              </a:spcBef>
              <a:buChar char="•"/>
              <a:tabLst>
                <a:tab pos="354965" algn="l"/>
              </a:tabLst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tweet_text: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Full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tweet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content</a:t>
            </a:r>
            <a:endParaRPr sz="1750">
              <a:latin typeface="Times New Roman"/>
              <a:cs typeface="Times New Roman"/>
            </a:endParaRPr>
          </a:p>
          <a:p>
            <a:pPr marL="355600" marR="278765" indent="-342900">
              <a:lnSpc>
                <a:spcPct val="138300"/>
              </a:lnSpc>
              <a:buChar char="•"/>
              <a:tabLst>
                <a:tab pos="355600" algn="l"/>
              </a:tabLst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product_target:</a:t>
            </a:r>
            <a:r>
              <a:rPr sz="1750" spc="-9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Mentioned product</a:t>
            </a:r>
            <a:endParaRPr sz="175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795"/>
              </a:spcBef>
              <a:buChar char="•"/>
              <a:tabLst>
                <a:tab pos="354965" algn="l"/>
              </a:tabLst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sentiment: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Labeled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endParaRPr sz="175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spcBef>
                <a:spcPts val="805"/>
              </a:spcBef>
            </a:pP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</a:t>
            </a:r>
            <a:endParaRPr sz="1750">
              <a:latin typeface="Times New Roman"/>
              <a:cs typeface="Times New Roman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265164" y="5384291"/>
            <a:ext cx="7586980" cy="1762125"/>
            <a:chOff x="6265164" y="5384291"/>
            <a:chExt cx="7586980" cy="1762125"/>
          </a:xfrm>
        </p:grpSpPr>
        <p:sp>
          <p:nvSpPr>
            <p:cNvPr id="13" name="object 13"/>
            <p:cNvSpPr/>
            <p:nvPr/>
          </p:nvSpPr>
          <p:spPr>
            <a:xfrm>
              <a:off x="6280404" y="5399531"/>
              <a:ext cx="7556500" cy="1731645"/>
            </a:xfrm>
            <a:custGeom>
              <a:avLst/>
              <a:gdLst/>
              <a:ahLst/>
              <a:cxnLst/>
              <a:rect l="l" t="t" r="r" b="b"/>
              <a:pathLst>
                <a:path w="7556500" h="1731645">
                  <a:moveTo>
                    <a:pt x="7521956" y="0"/>
                  </a:moveTo>
                  <a:lnTo>
                    <a:pt x="34036" y="0"/>
                  </a:lnTo>
                  <a:lnTo>
                    <a:pt x="20788" y="2674"/>
                  </a:lnTo>
                  <a:lnTo>
                    <a:pt x="9969" y="9969"/>
                  </a:lnTo>
                  <a:lnTo>
                    <a:pt x="2674" y="20788"/>
                  </a:lnTo>
                  <a:lnTo>
                    <a:pt x="0" y="34036"/>
                  </a:lnTo>
                  <a:lnTo>
                    <a:pt x="0" y="1697228"/>
                  </a:lnTo>
                  <a:lnTo>
                    <a:pt x="2674" y="1710475"/>
                  </a:lnTo>
                  <a:lnTo>
                    <a:pt x="9969" y="1721294"/>
                  </a:lnTo>
                  <a:lnTo>
                    <a:pt x="20788" y="1728589"/>
                  </a:lnTo>
                  <a:lnTo>
                    <a:pt x="34036" y="1731264"/>
                  </a:lnTo>
                  <a:lnTo>
                    <a:pt x="7521956" y="1731264"/>
                  </a:lnTo>
                  <a:lnTo>
                    <a:pt x="7535203" y="1728589"/>
                  </a:lnTo>
                  <a:lnTo>
                    <a:pt x="7546022" y="1721294"/>
                  </a:lnTo>
                  <a:lnTo>
                    <a:pt x="7553317" y="1710475"/>
                  </a:lnTo>
                  <a:lnTo>
                    <a:pt x="7555992" y="1697228"/>
                  </a:lnTo>
                  <a:lnTo>
                    <a:pt x="7555992" y="34036"/>
                  </a:lnTo>
                  <a:lnTo>
                    <a:pt x="7553317" y="20788"/>
                  </a:lnTo>
                  <a:lnTo>
                    <a:pt x="7546022" y="9969"/>
                  </a:lnTo>
                  <a:lnTo>
                    <a:pt x="7535203" y="2674"/>
                  </a:lnTo>
                  <a:lnTo>
                    <a:pt x="7521956" y="0"/>
                  </a:lnTo>
                  <a:close/>
                </a:path>
              </a:pathLst>
            </a:custGeom>
            <a:solidFill>
              <a:srgbClr val="46434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280404" y="5399531"/>
              <a:ext cx="7556500" cy="1731645"/>
            </a:xfrm>
            <a:custGeom>
              <a:avLst/>
              <a:gdLst/>
              <a:ahLst/>
              <a:cxnLst/>
              <a:rect l="l" t="t" r="r" b="b"/>
              <a:pathLst>
                <a:path w="7556500" h="1731645">
                  <a:moveTo>
                    <a:pt x="0" y="34036"/>
                  </a:moveTo>
                  <a:lnTo>
                    <a:pt x="2674" y="20788"/>
                  </a:lnTo>
                  <a:lnTo>
                    <a:pt x="9969" y="9969"/>
                  </a:lnTo>
                  <a:lnTo>
                    <a:pt x="20788" y="2674"/>
                  </a:lnTo>
                  <a:lnTo>
                    <a:pt x="34036" y="0"/>
                  </a:lnTo>
                  <a:lnTo>
                    <a:pt x="7521956" y="0"/>
                  </a:lnTo>
                  <a:lnTo>
                    <a:pt x="7535203" y="2674"/>
                  </a:lnTo>
                  <a:lnTo>
                    <a:pt x="7546022" y="9969"/>
                  </a:lnTo>
                  <a:lnTo>
                    <a:pt x="7553317" y="20788"/>
                  </a:lnTo>
                  <a:lnTo>
                    <a:pt x="7555992" y="34036"/>
                  </a:lnTo>
                  <a:lnTo>
                    <a:pt x="7555992" y="1697228"/>
                  </a:lnTo>
                  <a:lnTo>
                    <a:pt x="7553317" y="1710475"/>
                  </a:lnTo>
                  <a:lnTo>
                    <a:pt x="7546022" y="1721294"/>
                  </a:lnTo>
                  <a:lnTo>
                    <a:pt x="7535203" y="1728589"/>
                  </a:lnTo>
                  <a:lnTo>
                    <a:pt x="7521956" y="1731264"/>
                  </a:lnTo>
                  <a:lnTo>
                    <a:pt x="34036" y="1731264"/>
                  </a:lnTo>
                  <a:lnTo>
                    <a:pt x="20788" y="1728589"/>
                  </a:lnTo>
                  <a:lnTo>
                    <a:pt x="9969" y="1721294"/>
                  </a:lnTo>
                  <a:lnTo>
                    <a:pt x="2674" y="1710475"/>
                  </a:lnTo>
                  <a:lnTo>
                    <a:pt x="0" y="1697228"/>
                  </a:lnTo>
                  <a:lnTo>
                    <a:pt x="0" y="34036"/>
                  </a:lnTo>
                  <a:close/>
                </a:path>
              </a:pathLst>
            </a:custGeom>
            <a:ln w="30480">
              <a:solidFill>
                <a:srgbClr val="504D4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6525259" y="5632830"/>
            <a:ext cx="6772909" cy="12172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2200" spc="-6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Classes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745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Multiple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categories:</a:t>
            </a:r>
            <a:r>
              <a:rPr sz="17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positive,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negative,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and neutral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classifications</a:t>
            </a:r>
            <a:endParaRPr sz="17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present</a:t>
            </a:r>
            <a:endParaRPr sz="1750">
              <a:latin typeface="Times New Roman"/>
              <a:cs typeface="Times New Roman"/>
            </a:endParaRPr>
          </a:p>
        </p:txBody>
      </p:sp>
      <p:pic>
        <p:nvPicPr>
          <p:cNvPr id="16" name="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195071"/>
            <a:ext cx="6310884" cy="80345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2782" y="674623"/>
            <a:ext cx="5551170" cy="650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100" dirty="0"/>
              <a:t>Exploratory</a:t>
            </a:r>
            <a:r>
              <a:rPr sz="4100" spc="-30" dirty="0"/>
              <a:t> </a:t>
            </a:r>
            <a:r>
              <a:rPr sz="4100" spc="-20" dirty="0"/>
              <a:t>Data</a:t>
            </a:r>
            <a:r>
              <a:rPr sz="4100" spc="-229" dirty="0"/>
              <a:t> </a:t>
            </a:r>
            <a:r>
              <a:rPr sz="4100" spc="-10" dirty="0"/>
              <a:t>Analysis</a:t>
            </a:r>
            <a:endParaRPr sz="4100"/>
          </a:p>
        </p:txBody>
      </p:sp>
      <p:sp>
        <p:nvSpPr>
          <p:cNvPr id="3" name="object 3"/>
          <p:cNvSpPr/>
          <p:nvPr/>
        </p:nvSpPr>
        <p:spPr>
          <a:xfrm>
            <a:off x="736091" y="2468879"/>
            <a:ext cx="472440" cy="472440"/>
          </a:xfrm>
          <a:custGeom>
            <a:avLst/>
            <a:gdLst/>
            <a:ahLst/>
            <a:cxnLst/>
            <a:rect l="l" t="t" r="r" b="b"/>
            <a:pathLst>
              <a:path w="472440" h="472439">
                <a:moveTo>
                  <a:pt x="440944" y="0"/>
                </a:moveTo>
                <a:lnTo>
                  <a:pt x="31495" y="0"/>
                </a:lnTo>
                <a:lnTo>
                  <a:pt x="19234" y="2474"/>
                </a:lnTo>
                <a:lnTo>
                  <a:pt x="9223" y="9223"/>
                </a:lnTo>
                <a:lnTo>
                  <a:pt x="2474" y="19234"/>
                </a:lnTo>
                <a:lnTo>
                  <a:pt x="0" y="31496"/>
                </a:lnTo>
                <a:lnTo>
                  <a:pt x="0" y="440944"/>
                </a:lnTo>
                <a:lnTo>
                  <a:pt x="2474" y="453205"/>
                </a:lnTo>
                <a:lnTo>
                  <a:pt x="9223" y="463216"/>
                </a:lnTo>
                <a:lnTo>
                  <a:pt x="19234" y="469965"/>
                </a:lnTo>
                <a:lnTo>
                  <a:pt x="31495" y="472440"/>
                </a:lnTo>
                <a:lnTo>
                  <a:pt x="440944" y="472440"/>
                </a:lnTo>
                <a:lnTo>
                  <a:pt x="453205" y="469965"/>
                </a:lnTo>
                <a:lnTo>
                  <a:pt x="463216" y="463216"/>
                </a:lnTo>
                <a:lnTo>
                  <a:pt x="469965" y="453205"/>
                </a:lnTo>
                <a:lnTo>
                  <a:pt x="472439" y="440944"/>
                </a:lnTo>
                <a:lnTo>
                  <a:pt x="472439" y="31496"/>
                </a:lnTo>
                <a:lnTo>
                  <a:pt x="469965" y="19234"/>
                </a:lnTo>
                <a:lnTo>
                  <a:pt x="463216" y="9223"/>
                </a:lnTo>
                <a:lnTo>
                  <a:pt x="453205" y="2474"/>
                </a:lnTo>
                <a:lnTo>
                  <a:pt x="440944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36091" y="4099559"/>
            <a:ext cx="472440" cy="474345"/>
          </a:xfrm>
          <a:custGeom>
            <a:avLst/>
            <a:gdLst/>
            <a:ahLst/>
            <a:cxnLst/>
            <a:rect l="l" t="t" r="r" b="b"/>
            <a:pathLst>
              <a:path w="472440" h="474345">
                <a:moveTo>
                  <a:pt x="440944" y="0"/>
                </a:moveTo>
                <a:lnTo>
                  <a:pt x="31495" y="0"/>
                </a:lnTo>
                <a:lnTo>
                  <a:pt x="19234" y="2474"/>
                </a:lnTo>
                <a:lnTo>
                  <a:pt x="9223" y="9223"/>
                </a:lnTo>
                <a:lnTo>
                  <a:pt x="2474" y="19234"/>
                </a:lnTo>
                <a:lnTo>
                  <a:pt x="0" y="31495"/>
                </a:lnTo>
                <a:lnTo>
                  <a:pt x="0" y="442467"/>
                </a:lnTo>
                <a:lnTo>
                  <a:pt x="2474" y="454729"/>
                </a:lnTo>
                <a:lnTo>
                  <a:pt x="9223" y="464740"/>
                </a:lnTo>
                <a:lnTo>
                  <a:pt x="19234" y="471489"/>
                </a:lnTo>
                <a:lnTo>
                  <a:pt x="31495" y="473963"/>
                </a:lnTo>
                <a:lnTo>
                  <a:pt x="440944" y="473963"/>
                </a:lnTo>
                <a:lnTo>
                  <a:pt x="453205" y="471489"/>
                </a:lnTo>
                <a:lnTo>
                  <a:pt x="463216" y="464740"/>
                </a:lnTo>
                <a:lnTo>
                  <a:pt x="469965" y="454729"/>
                </a:lnTo>
                <a:lnTo>
                  <a:pt x="472439" y="442467"/>
                </a:lnTo>
                <a:lnTo>
                  <a:pt x="472439" y="31495"/>
                </a:lnTo>
                <a:lnTo>
                  <a:pt x="469965" y="19234"/>
                </a:lnTo>
                <a:lnTo>
                  <a:pt x="463216" y="9223"/>
                </a:lnTo>
                <a:lnTo>
                  <a:pt x="453205" y="2474"/>
                </a:lnTo>
                <a:lnTo>
                  <a:pt x="440944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6091" y="5731764"/>
            <a:ext cx="472440" cy="472440"/>
          </a:xfrm>
          <a:custGeom>
            <a:avLst/>
            <a:gdLst/>
            <a:ahLst/>
            <a:cxnLst/>
            <a:rect l="l" t="t" r="r" b="b"/>
            <a:pathLst>
              <a:path w="472440" h="472439">
                <a:moveTo>
                  <a:pt x="440944" y="0"/>
                </a:moveTo>
                <a:lnTo>
                  <a:pt x="31495" y="0"/>
                </a:lnTo>
                <a:lnTo>
                  <a:pt x="19234" y="2474"/>
                </a:lnTo>
                <a:lnTo>
                  <a:pt x="9223" y="9223"/>
                </a:lnTo>
                <a:lnTo>
                  <a:pt x="2474" y="19234"/>
                </a:lnTo>
                <a:lnTo>
                  <a:pt x="0" y="31496"/>
                </a:lnTo>
                <a:lnTo>
                  <a:pt x="0" y="440944"/>
                </a:lnTo>
                <a:lnTo>
                  <a:pt x="2474" y="453205"/>
                </a:lnTo>
                <a:lnTo>
                  <a:pt x="9223" y="463216"/>
                </a:lnTo>
                <a:lnTo>
                  <a:pt x="19234" y="469965"/>
                </a:lnTo>
                <a:lnTo>
                  <a:pt x="31495" y="472440"/>
                </a:lnTo>
                <a:lnTo>
                  <a:pt x="440944" y="472440"/>
                </a:lnTo>
                <a:lnTo>
                  <a:pt x="453205" y="469965"/>
                </a:lnTo>
                <a:lnTo>
                  <a:pt x="463216" y="463216"/>
                </a:lnTo>
                <a:lnTo>
                  <a:pt x="469965" y="453205"/>
                </a:lnTo>
                <a:lnTo>
                  <a:pt x="472439" y="440944"/>
                </a:lnTo>
                <a:lnTo>
                  <a:pt x="472439" y="31496"/>
                </a:lnTo>
                <a:lnTo>
                  <a:pt x="469965" y="19234"/>
                </a:lnTo>
                <a:lnTo>
                  <a:pt x="463216" y="9223"/>
                </a:lnTo>
                <a:lnTo>
                  <a:pt x="453205" y="2474"/>
                </a:lnTo>
                <a:lnTo>
                  <a:pt x="440944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22782" y="1827987"/>
            <a:ext cx="4076065" cy="5111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50" dirty="0">
                <a:solidFill>
                  <a:srgbClr val="D7B6A3"/>
                </a:solidFill>
                <a:latin typeface="Times New Roman"/>
                <a:cs typeface="Times New Roman"/>
              </a:rPr>
              <a:t>Key</a:t>
            </a:r>
            <a:r>
              <a:rPr sz="2450" spc="-40" dirty="0">
                <a:solidFill>
                  <a:srgbClr val="D7B6A3"/>
                </a:solidFill>
                <a:latin typeface="Times New Roman"/>
                <a:cs typeface="Times New Roman"/>
              </a:rPr>
              <a:t> </a:t>
            </a:r>
            <a:r>
              <a:rPr sz="2450" spc="-10" dirty="0">
                <a:solidFill>
                  <a:srgbClr val="D7B6A3"/>
                </a:solidFill>
                <a:latin typeface="Times New Roman"/>
                <a:cs typeface="Times New Roman"/>
              </a:rPr>
              <a:t>Findings</a:t>
            </a:r>
            <a:endParaRPr sz="245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  <a:spcBef>
                <a:spcPts val="2480"/>
              </a:spcBef>
            </a:pPr>
            <a:r>
              <a:rPr sz="20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2050" spc="-8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050" spc="-10" dirty="0">
                <a:solidFill>
                  <a:srgbClr val="C8C2C0"/>
                </a:solidFill>
                <a:latin typeface="Times New Roman"/>
                <a:cs typeface="Times New Roman"/>
              </a:rPr>
              <a:t>Distribution</a:t>
            </a:r>
            <a:endParaRPr sz="205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  <a:spcBef>
                <a:spcPts val="1975"/>
              </a:spcBef>
            </a:pP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Analyzed</a:t>
            </a:r>
            <a:r>
              <a:rPr sz="16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frequency</a:t>
            </a:r>
            <a:r>
              <a:rPr sz="16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of</a:t>
            </a:r>
            <a:r>
              <a:rPr sz="16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each</a:t>
            </a:r>
            <a:r>
              <a:rPr sz="16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spc="-1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endParaRPr sz="165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  <a:spcBef>
                <a:spcPts val="525"/>
              </a:spcBef>
            </a:pP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class</a:t>
            </a:r>
            <a:r>
              <a:rPr sz="16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across</a:t>
            </a:r>
            <a:r>
              <a:rPr sz="16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the</a:t>
            </a:r>
            <a:r>
              <a:rPr sz="16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spc="-10" dirty="0">
                <a:solidFill>
                  <a:srgbClr val="C8C2C0"/>
                </a:solidFill>
                <a:latin typeface="Times New Roman"/>
                <a:cs typeface="Times New Roman"/>
              </a:rPr>
              <a:t>dataset</a:t>
            </a:r>
            <a:endParaRPr sz="16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6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165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</a:pPr>
            <a:r>
              <a:rPr sz="2050" dirty="0">
                <a:solidFill>
                  <a:srgbClr val="C8C2C0"/>
                </a:solidFill>
                <a:latin typeface="Times New Roman"/>
                <a:cs typeface="Times New Roman"/>
              </a:rPr>
              <a:t>Class</a:t>
            </a:r>
            <a:r>
              <a:rPr sz="2050" spc="-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050" spc="-10" dirty="0">
                <a:solidFill>
                  <a:srgbClr val="C8C2C0"/>
                </a:solidFill>
                <a:latin typeface="Times New Roman"/>
                <a:cs typeface="Times New Roman"/>
              </a:rPr>
              <a:t>Imbalance</a:t>
            </a:r>
            <a:endParaRPr sz="2050">
              <a:latin typeface="Times New Roman"/>
              <a:cs typeface="Times New Roman"/>
            </a:endParaRPr>
          </a:p>
          <a:p>
            <a:pPr marL="679450" marR="91440">
              <a:lnSpc>
                <a:spcPct val="126699"/>
              </a:lnSpc>
              <a:spcBef>
                <a:spcPts val="1445"/>
              </a:spcBef>
            </a:pP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Identified</a:t>
            </a:r>
            <a:r>
              <a:rPr sz="16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significant</a:t>
            </a:r>
            <a:r>
              <a:rPr sz="1650" spc="-6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imbalance</a:t>
            </a:r>
            <a:r>
              <a:rPr sz="16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spc="-10" dirty="0">
                <a:solidFill>
                  <a:srgbClr val="C8C2C0"/>
                </a:solidFill>
                <a:latin typeface="Times New Roman"/>
                <a:cs typeface="Times New Roman"/>
              </a:rPr>
              <a:t>among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6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spc="-10" dirty="0">
                <a:solidFill>
                  <a:srgbClr val="C8C2C0"/>
                </a:solidFill>
                <a:latin typeface="Times New Roman"/>
                <a:cs typeface="Times New Roman"/>
              </a:rPr>
              <a:t>categories</a:t>
            </a:r>
            <a:endParaRPr sz="16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6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0"/>
              </a:spcBef>
            </a:pPr>
            <a:endParaRPr sz="1650">
              <a:latin typeface="Times New Roman"/>
              <a:cs typeface="Times New Roman"/>
            </a:endParaRPr>
          </a:p>
          <a:p>
            <a:pPr marL="679450">
              <a:lnSpc>
                <a:spcPct val="100000"/>
              </a:lnSpc>
              <a:spcBef>
                <a:spcPts val="5"/>
              </a:spcBef>
            </a:pPr>
            <a:r>
              <a:rPr sz="2050" dirty="0">
                <a:solidFill>
                  <a:srgbClr val="C8C2C0"/>
                </a:solidFill>
                <a:latin typeface="Times New Roman"/>
                <a:cs typeface="Times New Roman"/>
              </a:rPr>
              <a:t>Positive</a:t>
            </a:r>
            <a:r>
              <a:rPr sz="20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050" spc="-10" dirty="0">
                <a:solidFill>
                  <a:srgbClr val="C8C2C0"/>
                </a:solidFill>
                <a:latin typeface="Times New Roman"/>
                <a:cs typeface="Times New Roman"/>
              </a:rPr>
              <a:t>Dominance</a:t>
            </a:r>
            <a:endParaRPr sz="2050">
              <a:latin typeface="Times New Roman"/>
              <a:cs typeface="Times New Roman"/>
            </a:endParaRPr>
          </a:p>
          <a:p>
            <a:pPr marL="679450" marR="5080">
              <a:lnSpc>
                <a:spcPct val="126699"/>
              </a:lnSpc>
              <a:spcBef>
                <a:spcPts val="1445"/>
              </a:spcBef>
            </a:pP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Positive</a:t>
            </a:r>
            <a:r>
              <a:rPr sz="1650" spc="-6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6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spc="-10" dirty="0">
                <a:solidFill>
                  <a:srgbClr val="C8C2C0"/>
                </a:solidFill>
                <a:latin typeface="Times New Roman"/>
                <a:cs typeface="Times New Roman"/>
              </a:rPr>
              <a:t>substantially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outnumbers</a:t>
            </a:r>
            <a:r>
              <a:rPr sz="16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negative</a:t>
            </a:r>
            <a:r>
              <a:rPr sz="16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and</a:t>
            </a:r>
            <a:r>
              <a:rPr sz="16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dirty="0">
                <a:solidFill>
                  <a:srgbClr val="C8C2C0"/>
                </a:solidFill>
                <a:latin typeface="Times New Roman"/>
                <a:cs typeface="Times New Roman"/>
              </a:rPr>
              <a:t>neutral</a:t>
            </a:r>
            <a:r>
              <a:rPr sz="16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5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classes</a:t>
            </a:r>
            <a:endParaRPr sz="165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26907" y="2357627"/>
            <a:ext cx="5201411" cy="39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96569" y="540461"/>
            <a:ext cx="5617845" cy="628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950" spc="-25" dirty="0"/>
              <a:t>Text</a:t>
            </a:r>
            <a:r>
              <a:rPr sz="3950" spc="-110" dirty="0"/>
              <a:t> </a:t>
            </a:r>
            <a:r>
              <a:rPr sz="3950" dirty="0"/>
              <a:t>Preprocessing</a:t>
            </a:r>
            <a:r>
              <a:rPr sz="3950" spc="-105" dirty="0"/>
              <a:t> </a:t>
            </a:r>
            <a:r>
              <a:rPr sz="3950" spc="-10" dirty="0"/>
              <a:t>Pipeline</a:t>
            </a:r>
            <a:endParaRPr sz="39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8659" y="1572767"/>
            <a:ext cx="1013460" cy="607923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890776" y="1752346"/>
            <a:ext cx="4335145" cy="559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spc="-10" dirty="0">
                <a:solidFill>
                  <a:srgbClr val="C8C2C0"/>
                </a:solidFill>
                <a:latin typeface="Times New Roman"/>
                <a:cs typeface="Times New Roman"/>
              </a:rPr>
              <a:t>Normalization</a:t>
            </a:r>
            <a:endParaRPr sz="1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Convert</a:t>
            </a:r>
            <a:r>
              <a:rPr sz="15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all</a:t>
            </a:r>
            <a:r>
              <a:rPr sz="15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text</a:t>
            </a:r>
            <a:r>
              <a:rPr sz="15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to</a:t>
            </a:r>
            <a:r>
              <a:rPr sz="15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lowercase</a:t>
            </a:r>
            <a:r>
              <a:rPr sz="15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15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spc="-10" dirty="0">
                <a:solidFill>
                  <a:srgbClr val="C8C2C0"/>
                </a:solidFill>
                <a:latin typeface="Times New Roman"/>
                <a:cs typeface="Times New Roman"/>
              </a:rPr>
              <a:t>consistency</a:t>
            </a: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75"/>
              </a:spcBef>
            </a:pPr>
            <a:endParaRPr sz="15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950" spc="-10" dirty="0">
                <a:solidFill>
                  <a:srgbClr val="C8C2C0"/>
                </a:solidFill>
                <a:latin typeface="Times New Roman"/>
                <a:cs typeface="Times New Roman"/>
              </a:rPr>
              <a:t>Cleaning</a:t>
            </a:r>
            <a:endParaRPr sz="1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Remove</a:t>
            </a:r>
            <a:r>
              <a:rPr sz="15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punctuation,</a:t>
            </a:r>
            <a:r>
              <a:rPr sz="1550" spc="-6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numbers,</a:t>
            </a:r>
            <a:r>
              <a:rPr sz="15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and</a:t>
            </a:r>
            <a:r>
              <a:rPr sz="15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special</a:t>
            </a:r>
            <a:r>
              <a:rPr sz="15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spc="-10" dirty="0">
                <a:solidFill>
                  <a:srgbClr val="C8C2C0"/>
                </a:solidFill>
                <a:latin typeface="Times New Roman"/>
                <a:cs typeface="Times New Roman"/>
              </a:rPr>
              <a:t>characters</a:t>
            </a: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75"/>
              </a:spcBef>
            </a:pPr>
            <a:endParaRPr sz="15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950" dirty="0">
                <a:solidFill>
                  <a:srgbClr val="C8C2C0"/>
                </a:solidFill>
                <a:latin typeface="Times New Roman"/>
                <a:cs typeface="Times New Roman"/>
              </a:rPr>
              <a:t>Stopword</a:t>
            </a:r>
            <a:r>
              <a:rPr sz="19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950" spc="-10" dirty="0">
                <a:solidFill>
                  <a:srgbClr val="C8C2C0"/>
                </a:solidFill>
                <a:latin typeface="Times New Roman"/>
                <a:cs typeface="Times New Roman"/>
              </a:rPr>
              <a:t>Removal</a:t>
            </a:r>
            <a:endParaRPr sz="1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Filter</a:t>
            </a:r>
            <a:r>
              <a:rPr sz="1550" spc="-6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out</a:t>
            </a:r>
            <a:r>
              <a:rPr sz="15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common</a:t>
            </a:r>
            <a:r>
              <a:rPr sz="1550" spc="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words</a:t>
            </a:r>
            <a:r>
              <a:rPr sz="15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with</a:t>
            </a:r>
            <a:r>
              <a:rPr sz="15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minimal</a:t>
            </a:r>
            <a:r>
              <a:rPr sz="15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semantic</a:t>
            </a:r>
            <a:r>
              <a:rPr sz="15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spc="-10" dirty="0">
                <a:solidFill>
                  <a:srgbClr val="C8C2C0"/>
                </a:solidFill>
                <a:latin typeface="Times New Roman"/>
                <a:cs typeface="Times New Roman"/>
              </a:rPr>
              <a:t>value</a:t>
            </a: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75"/>
              </a:spcBef>
            </a:pPr>
            <a:endParaRPr sz="15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950" spc="-10" dirty="0">
                <a:solidFill>
                  <a:srgbClr val="C8C2C0"/>
                </a:solidFill>
                <a:latin typeface="Times New Roman"/>
                <a:cs typeface="Times New Roman"/>
              </a:rPr>
              <a:t>Tokenization</a:t>
            </a:r>
            <a:endParaRPr sz="1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Split</a:t>
            </a:r>
            <a:r>
              <a:rPr sz="15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text</a:t>
            </a:r>
            <a:r>
              <a:rPr sz="15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into</a:t>
            </a:r>
            <a:r>
              <a:rPr sz="15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individual</a:t>
            </a:r>
            <a:r>
              <a:rPr sz="15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words</a:t>
            </a:r>
            <a:r>
              <a:rPr sz="15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or</a:t>
            </a:r>
            <a:r>
              <a:rPr sz="1550" spc="-10" dirty="0">
                <a:solidFill>
                  <a:srgbClr val="C8C2C0"/>
                </a:solidFill>
                <a:latin typeface="Times New Roman"/>
                <a:cs typeface="Times New Roman"/>
              </a:rPr>
              <a:t> tokens</a:t>
            </a: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55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75"/>
              </a:spcBef>
            </a:pPr>
            <a:endParaRPr sz="15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950" spc="-10" dirty="0">
                <a:solidFill>
                  <a:srgbClr val="C8C2C0"/>
                </a:solidFill>
                <a:latin typeface="Times New Roman"/>
                <a:cs typeface="Times New Roman"/>
              </a:rPr>
              <a:t>Lemmatization</a:t>
            </a:r>
            <a:endParaRPr sz="19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Reduce</a:t>
            </a:r>
            <a:r>
              <a:rPr sz="15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words</a:t>
            </a:r>
            <a:r>
              <a:rPr sz="15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to</a:t>
            </a:r>
            <a:r>
              <a:rPr sz="15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their</a:t>
            </a:r>
            <a:r>
              <a:rPr sz="15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base</a:t>
            </a:r>
            <a:r>
              <a:rPr sz="15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dirty="0">
                <a:solidFill>
                  <a:srgbClr val="C8C2C0"/>
                </a:solidFill>
                <a:latin typeface="Times New Roman"/>
                <a:cs typeface="Times New Roman"/>
              </a:rPr>
              <a:t>dictionary</a:t>
            </a:r>
            <a:r>
              <a:rPr sz="15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550" spc="-20" dirty="0">
                <a:solidFill>
                  <a:srgbClr val="C8C2C0"/>
                </a:solidFill>
                <a:latin typeface="Times New Roman"/>
                <a:cs typeface="Times New Roman"/>
              </a:rPr>
              <a:t>form</a:t>
            </a:r>
            <a:endParaRPr sz="15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4139" rIns="0" bIns="0" rtlCol="0">
            <a:spAutoFit/>
          </a:bodyPr>
          <a:lstStyle/>
          <a:p>
            <a:pPr marL="29209" marR="5080">
              <a:lnSpc>
                <a:spcPts val="5100"/>
              </a:lnSpc>
            </a:pPr>
            <a:r>
              <a:rPr sz="4050" dirty="0"/>
              <a:t>Feature</a:t>
            </a:r>
            <a:r>
              <a:rPr sz="4050" spc="-30" dirty="0"/>
              <a:t> </a:t>
            </a:r>
            <a:r>
              <a:rPr sz="4050" dirty="0"/>
              <a:t>Engineering:</a:t>
            </a:r>
            <a:r>
              <a:rPr sz="4050" spc="-105" dirty="0"/>
              <a:t> </a:t>
            </a:r>
            <a:r>
              <a:rPr sz="4050" dirty="0"/>
              <a:t>TF-</a:t>
            </a:r>
            <a:r>
              <a:rPr sz="4050" spc="-25" dirty="0"/>
              <a:t>IDF </a:t>
            </a:r>
            <a:r>
              <a:rPr sz="4050" spc="-10" dirty="0"/>
              <a:t>Vectorization</a:t>
            </a:r>
            <a:endParaRPr sz="4050"/>
          </a:p>
        </p:txBody>
      </p:sp>
      <p:sp>
        <p:nvSpPr>
          <p:cNvPr id="3" name="object 3"/>
          <p:cNvSpPr txBox="1"/>
          <p:nvPr/>
        </p:nvSpPr>
        <p:spPr>
          <a:xfrm>
            <a:off x="713333" y="2935351"/>
            <a:ext cx="16687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solidFill>
                  <a:srgbClr val="D7B6A3"/>
                </a:solidFill>
                <a:latin typeface="Times New Roman"/>
                <a:cs typeface="Times New Roman"/>
              </a:rPr>
              <a:t>Methodology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13333" y="3482134"/>
            <a:ext cx="3359785" cy="3202940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690"/>
              </a:spcBef>
              <a:buChar char="•"/>
              <a:tabLst>
                <a:tab pos="354965" algn="l"/>
              </a:tabLst>
            </a:pP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Term</a:t>
            </a:r>
            <a:r>
              <a:rPr sz="16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Frequency-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Inverse</a:t>
            </a:r>
            <a:r>
              <a:rPr sz="16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Document</a:t>
            </a:r>
            <a:endParaRPr sz="16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spcBef>
                <a:spcPts val="590"/>
              </a:spcBef>
            </a:pP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Frequency</a:t>
            </a:r>
            <a:r>
              <a:rPr sz="16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technique</a:t>
            </a:r>
            <a:endParaRPr sz="1600">
              <a:latin typeface="Times New Roman"/>
              <a:cs typeface="Times New Roman"/>
            </a:endParaRPr>
          </a:p>
          <a:p>
            <a:pPr marL="355600" marR="605790" indent="-342900">
              <a:lnSpc>
                <a:spcPct val="130000"/>
              </a:lnSpc>
              <a:buChar char="•"/>
              <a:tabLst>
                <a:tab pos="355600" algn="l"/>
              </a:tabLst>
            </a:pP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Converts</a:t>
            </a:r>
            <a:r>
              <a:rPr sz="160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text</a:t>
            </a:r>
            <a:r>
              <a:rPr sz="160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documents</a:t>
            </a:r>
            <a:r>
              <a:rPr sz="160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20" dirty="0">
                <a:solidFill>
                  <a:srgbClr val="C8C2C0"/>
                </a:solidFill>
                <a:latin typeface="Times New Roman"/>
                <a:cs typeface="Times New Roman"/>
              </a:rPr>
              <a:t>into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numerical</a:t>
            </a:r>
            <a:r>
              <a:rPr sz="160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feature</a:t>
            </a:r>
            <a:r>
              <a:rPr sz="16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vectors</a:t>
            </a:r>
            <a:endParaRPr sz="1600">
              <a:latin typeface="Times New Roman"/>
              <a:cs typeface="Times New Roman"/>
            </a:endParaRPr>
          </a:p>
          <a:p>
            <a:pPr marL="355600" marR="398780" indent="-342900">
              <a:lnSpc>
                <a:spcPct val="130000"/>
              </a:lnSpc>
              <a:spcBef>
                <a:spcPts val="15"/>
              </a:spcBef>
              <a:buChar char="•"/>
              <a:tabLst>
                <a:tab pos="355600" algn="l"/>
              </a:tabLst>
            </a:pPr>
            <a:r>
              <a:rPr sz="1600" spc="-20" dirty="0">
                <a:solidFill>
                  <a:srgbClr val="C8C2C0"/>
                </a:solidFill>
                <a:latin typeface="Times New Roman"/>
                <a:cs typeface="Times New Roman"/>
              </a:rPr>
              <a:t>Weights</a:t>
            </a:r>
            <a:r>
              <a:rPr sz="16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terms by</a:t>
            </a:r>
            <a:r>
              <a:rPr sz="1600" spc="-6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importance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25" dirty="0">
                <a:solidFill>
                  <a:srgbClr val="C8C2C0"/>
                </a:solidFill>
                <a:latin typeface="Times New Roman"/>
                <a:cs typeface="Times New Roman"/>
              </a:rPr>
              <a:t>in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document</a:t>
            </a:r>
            <a:r>
              <a:rPr sz="160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vs.</a:t>
            </a:r>
            <a:r>
              <a:rPr sz="16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corpus</a:t>
            </a:r>
            <a:endParaRPr sz="1600">
              <a:latin typeface="Times New Roman"/>
              <a:cs typeface="Times New Roman"/>
            </a:endParaRPr>
          </a:p>
          <a:p>
            <a:pPr marL="355600" marR="140970" indent="-342900">
              <a:lnSpc>
                <a:spcPts val="2510"/>
              </a:lnSpc>
              <a:spcBef>
                <a:spcPts val="170"/>
              </a:spcBef>
              <a:buChar char="•"/>
              <a:tabLst>
                <a:tab pos="355600" algn="l"/>
              </a:tabLst>
            </a:pP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Higher</a:t>
            </a:r>
            <a:r>
              <a:rPr sz="160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scores</a:t>
            </a:r>
            <a:r>
              <a:rPr sz="160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16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terms</a:t>
            </a:r>
            <a:r>
              <a:rPr sz="1600" spc="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frequent</a:t>
            </a:r>
            <a:r>
              <a:rPr sz="16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25" dirty="0">
                <a:solidFill>
                  <a:srgbClr val="C8C2C0"/>
                </a:solidFill>
                <a:latin typeface="Times New Roman"/>
                <a:cs typeface="Times New Roman"/>
              </a:rPr>
              <a:t>in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document</a:t>
            </a:r>
            <a:r>
              <a:rPr sz="160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but</a:t>
            </a:r>
            <a:r>
              <a:rPr sz="160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rare</a:t>
            </a:r>
            <a:r>
              <a:rPr sz="16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overall</a:t>
            </a:r>
            <a:endParaRPr sz="1600">
              <a:latin typeface="Times New Roman"/>
              <a:cs typeface="Times New Roman"/>
            </a:endParaRPr>
          </a:p>
          <a:p>
            <a:pPr marL="354965" indent="-342265">
              <a:lnSpc>
                <a:spcPct val="100000"/>
              </a:lnSpc>
              <a:spcBef>
                <a:spcPts val="390"/>
              </a:spcBef>
              <a:buChar char="•"/>
              <a:tabLst>
                <a:tab pos="354965" algn="l"/>
              </a:tabLst>
            </a:pP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Preserves</a:t>
            </a:r>
            <a:r>
              <a:rPr sz="16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semantic</a:t>
            </a:r>
            <a:r>
              <a:rPr sz="160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meaning</a:t>
            </a:r>
            <a:r>
              <a:rPr sz="16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through</a:t>
            </a:r>
            <a:endParaRPr sz="1600">
              <a:latin typeface="Times New Roman"/>
              <a:cs typeface="Times New Roman"/>
            </a:endParaRPr>
          </a:p>
          <a:p>
            <a:pPr marL="355600">
              <a:lnSpc>
                <a:spcPct val="100000"/>
              </a:lnSpc>
              <a:spcBef>
                <a:spcPts val="580"/>
              </a:spcBef>
            </a:pPr>
            <a:r>
              <a:rPr sz="1600" dirty="0">
                <a:solidFill>
                  <a:srgbClr val="C8C2C0"/>
                </a:solidFill>
                <a:latin typeface="Times New Roman"/>
                <a:cs typeface="Times New Roman"/>
              </a:rPr>
              <a:t>weighted</a:t>
            </a:r>
            <a:r>
              <a:rPr sz="160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600" spc="-10" dirty="0">
                <a:solidFill>
                  <a:srgbClr val="C8C2C0"/>
                </a:solidFill>
                <a:latin typeface="Times New Roman"/>
                <a:cs typeface="Times New Roman"/>
              </a:rPr>
              <a:t>representation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683252" y="2767583"/>
            <a:ext cx="3892550" cy="4276725"/>
          </a:xfrm>
          <a:custGeom>
            <a:avLst/>
            <a:gdLst/>
            <a:ahLst/>
            <a:cxnLst/>
            <a:rect l="l" t="t" r="r" b="b"/>
            <a:pathLst>
              <a:path w="3892550" h="4276725">
                <a:moveTo>
                  <a:pt x="3861180" y="0"/>
                </a:moveTo>
                <a:lnTo>
                  <a:pt x="31114" y="0"/>
                </a:lnTo>
                <a:lnTo>
                  <a:pt x="19020" y="2450"/>
                </a:lnTo>
                <a:lnTo>
                  <a:pt x="9128" y="9128"/>
                </a:lnTo>
                <a:lnTo>
                  <a:pt x="2450" y="19020"/>
                </a:lnTo>
                <a:lnTo>
                  <a:pt x="0" y="31114"/>
                </a:lnTo>
                <a:lnTo>
                  <a:pt x="0" y="4245203"/>
                </a:lnTo>
                <a:lnTo>
                  <a:pt x="2450" y="4257323"/>
                </a:lnTo>
                <a:lnTo>
                  <a:pt x="9128" y="4267222"/>
                </a:lnTo>
                <a:lnTo>
                  <a:pt x="19020" y="4273896"/>
                </a:lnTo>
                <a:lnTo>
                  <a:pt x="31114" y="4276344"/>
                </a:lnTo>
                <a:lnTo>
                  <a:pt x="3861180" y="4276344"/>
                </a:lnTo>
                <a:lnTo>
                  <a:pt x="3873275" y="4273896"/>
                </a:lnTo>
                <a:lnTo>
                  <a:pt x="3883167" y="4267222"/>
                </a:lnTo>
                <a:lnTo>
                  <a:pt x="3889845" y="4257323"/>
                </a:lnTo>
                <a:lnTo>
                  <a:pt x="3892296" y="4245203"/>
                </a:lnTo>
                <a:lnTo>
                  <a:pt x="3892296" y="31114"/>
                </a:lnTo>
                <a:lnTo>
                  <a:pt x="3889845" y="19020"/>
                </a:lnTo>
                <a:lnTo>
                  <a:pt x="3883167" y="9128"/>
                </a:lnTo>
                <a:lnTo>
                  <a:pt x="3873275" y="2450"/>
                </a:lnTo>
                <a:lnTo>
                  <a:pt x="3861180" y="0"/>
                </a:lnTo>
                <a:close/>
              </a:path>
            </a:pathLst>
          </a:custGeom>
          <a:solidFill>
            <a:srgbClr val="C49F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878451" y="2938399"/>
            <a:ext cx="163068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10" dirty="0">
                <a:latin typeface="Times New Roman"/>
                <a:cs typeface="Times New Roman"/>
              </a:rPr>
              <a:t>Implementation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878451" y="3418103"/>
            <a:ext cx="3209290" cy="1296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105"/>
              </a:spcBef>
            </a:pPr>
            <a:r>
              <a:rPr sz="1600" spc="-20" dirty="0">
                <a:latin typeface="Times New Roman"/>
                <a:cs typeface="Times New Roman"/>
              </a:rPr>
              <a:t>Text</a:t>
            </a:r>
            <a:r>
              <a:rPr sz="1600" spc="-5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data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transformed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into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high- </a:t>
            </a:r>
            <a:r>
              <a:rPr sz="1600" dirty="0">
                <a:latin typeface="Times New Roman"/>
                <a:cs typeface="Times New Roman"/>
              </a:rPr>
              <a:t>dimensional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numerical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vectors</a:t>
            </a:r>
            <a:r>
              <a:rPr sz="1600" spc="-6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suitable </a:t>
            </a:r>
            <a:r>
              <a:rPr sz="1600" dirty="0">
                <a:latin typeface="Times New Roman"/>
                <a:cs typeface="Times New Roman"/>
              </a:rPr>
              <a:t>for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ML</a:t>
            </a:r>
            <a:r>
              <a:rPr sz="1600" spc="-10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algorithms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while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maintaining </a:t>
            </a:r>
            <a:r>
              <a:rPr sz="1600" dirty="0">
                <a:latin typeface="Times New Roman"/>
                <a:cs typeface="Times New Roman"/>
              </a:rPr>
              <a:t>word</a:t>
            </a:r>
            <a:r>
              <a:rPr sz="1600" spc="-7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importance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signals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3025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Machine</a:t>
            </a:r>
            <a:r>
              <a:rPr sz="4300" spc="-130" dirty="0"/>
              <a:t> </a:t>
            </a:r>
            <a:r>
              <a:rPr sz="4300" dirty="0"/>
              <a:t>Learning</a:t>
            </a:r>
            <a:r>
              <a:rPr sz="4300" spc="-135" dirty="0"/>
              <a:t> </a:t>
            </a:r>
            <a:r>
              <a:rPr sz="4300" spc="-10" dirty="0"/>
              <a:t>Models</a:t>
            </a:r>
            <a:endParaRPr sz="430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9619" y="1719072"/>
            <a:ext cx="4186428" cy="4186428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757529" y="6091250"/>
            <a:ext cx="3877310" cy="1156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50" dirty="0">
                <a:solidFill>
                  <a:srgbClr val="C8C2C0"/>
                </a:solidFill>
                <a:latin typeface="Times New Roman"/>
                <a:cs typeface="Times New Roman"/>
              </a:rPr>
              <a:t>Multinomial</a:t>
            </a:r>
            <a:r>
              <a:rPr sz="2150" spc="-6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150" dirty="0">
                <a:solidFill>
                  <a:srgbClr val="C8C2C0"/>
                </a:solidFill>
                <a:latin typeface="Times New Roman"/>
                <a:cs typeface="Times New Roman"/>
              </a:rPr>
              <a:t>Naive</a:t>
            </a:r>
            <a:r>
              <a:rPr sz="2150" spc="-6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150" spc="-20" dirty="0">
                <a:solidFill>
                  <a:srgbClr val="C8C2C0"/>
                </a:solidFill>
                <a:latin typeface="Times New Roman"/>
                <a:cs typeface="Times New Roman"/>
              </a:rPr>
              <a:t>Bayes</a:t>
            </a:r>
            <a:endParaRPr sz="2150">
              <a:latin typeface="Times New Roman"/>
              <a:cs typeface="Times New Roman"/>
            </a:endParaRPr>
          </a:p>
          <a:p>
            <a:pPr marL="12700" marR="5080">
              <a:lnSpc>
                <a:spcPct val="132500"/>
              </a:lnSpc>
              <a:spcBef>
                <a:spcPts val="919"/>
              </a:spcBef>
            </a:pP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Baseline</a:t>
            </a:r>
            <a:r>
              <a:rPr sz="170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probabilistic</a:t>
            </a:r>
            <a:r>
              <a:rPr sz="170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classifier</a:t>
            </a:r>
            <a:r>
              <a:rPr sz="17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using</a:t>
            </a:r>
            <a:r>
              <a:rPr sz="170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Bayes'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theorem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with</a:t>
            </a:r>
            <a:r>
              <a:rPr sz="1700" spc="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frequency-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based</a:t>
            </a:r>
            <a:r>
              <a:rPr sz="170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features</a:t>
            </a:r>
            <a:endParaRPr sz="1700">
              <a:latin typeface="Times New Roman"/>
              <a:cs typeface="Times New Roman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22747" y="1719072"/>
            <a:ext cx="4184904" cy="418642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210302" y="6091250"/>
            <a:ext cx="4103370" cy="1156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50" dirty="0">
                <a:solidFill>
                  <a:srgbClr val="C8C2C0"/>
                </a:solidFill>
                <a:latin typeface="Times New Roman"/>
                <a:cs typeface="Times New Roman"/>
              </a:rPr>
              <a:t>Random</a:t>
            </a:r>
            <a:r>
              <a:rPr sz="21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150" spc="-10" dirty="0">
                <a:solidFill>
                  <a:srgbClr val="C8C2C0"/>
                </a:solidFill>
                <a:latin typeface="Times New Roman"/>
                <a:cs typeface="Times New Roman"/>
              </a:rPr>
              <a:t>Forest</a:t>
            </a:r>
            <a:endParaRPr sz="2150">
              <a:latin typeface="Times New Roman"/>
              <a:cs typeface="Times New Roman"/>
            </a:endParaRPr>
          </a:p>
          <a:p>
            <a:pPr marL="12700" marR="5080">
              <a:lnSpc>
                <a:spcPct val="132500"/>
              </a:lnSpc>
              <a:spcBef>
                <a:spcPts val="919"/>
              </a:spcBef>
            </a:pP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Ensemble</a:t>
            </a:r>
            <a:r>
              <a:rPr sz="170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method</a:t>
            </a:r>
            <a:r>
              <a:rPr sz="17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combining</a:t>
            </a:r>
            <a:r>
              <a:rPr sz="170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multiple</a:t>
            </a:r>
            <a:r>
              <a:rPr sz="170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decision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trees</a:t>
            </a:r>
            <a:r>
              <a:rPr sz="170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170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improved</a:t>
            </a:r>
            <a:r>
              <a:rPr sz="170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accuracy</a:t>
            </a:r>
            <a:r>
              <a:rPr sz="17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and</a:t>
            </a:r>
            <a:r>
              <a:rPr sz="170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robustness</a:t>
            </a:r>
            <a:endParaRPr sz="170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674352" y="1719072"/>
            <a:ext cx="4186428" cy="4186428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9662921" y="6091250"/>
            <a:ext cx="3930650" cy="11569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50" spc="-10" dirty="0">
                <a:solidFill>
                  <a:srgbClr val="C8C2C0"/>
                </a:solidFill>
                <a:latin typeface="Times New Roman"/>
                <a:cs typeface="Times New Roman"/>
              </a:rPr>
              <a:t>XGBoost</a:t>
            </a:r>
            <a:endParaRPr sz="2150">
              <a:latin typeface="Times New Roman"/>
              <a:cs typeface="Times New Roman"/>
            </a:endParaRPr>
          </a:p>
          <a:p>
            <a:pPr marL="12700" marR="5080">
              <a:lnSpc>
                <a:spcPct val="132500"/>
              </a:lnSpc>
              <a:spcBef>
                <a:spcPts val="919"/>
              </a:spcBef>
            </a:pP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Gradient</a:t>
            </a:r>
            <a:r>
              <a:rPr sz="170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boosting</a:t>
            </a:r>
            <a:r>
              <a:rPr sz="170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framework</a:t>
            </a:r>
            <a:r>
              <a:rPr sz="1700" spc="-6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with</a:t>
            </a:r>
            <a:r>
              <a:rPr sz="170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optimized tree-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based</a:t>
            </a:r>
            <a:r>
              <a:rPr sz="170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models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170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dirty="0">
                <a:solidFill>
                  <a:srgbClr val="C8C2C0"/>
                </a:solidFill>
                <a:latin typeface="Times New Roman"/>
                <a:cs typeface="Times New Roman"/>
              </a:rPr>
              <a:t>enhanced</a:t>
            </a:r>
            <a:r>
              <a:rPr sz="170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00" spc="-10" dirty="0">
                <a:solidFill>
                  <a:srgbClr val="C8C2C0"/>
                </a:solidFill>
                <a:latin typeface="Times New Roman"/>
                <a:cs typeface="Times New Roman"/>
              </a:rPr>
              <a:t>performance</a:t>
            </a:r>
            <a:endParaRPr sz="17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1304" y="1641729"/>
            <a:ext cx="7106920" cy="7042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</a:t>
            </a:r>
            <a:r>
              <a:rPr spc="-175" dirty="0"/>
              <a:t> </a:t>
            </a:r>
            <a:r>
              <a:rPr dirty="0"/>
              <a:t>Training</a:t>
            </a:r>
            <a:r>
              <a:rPr spc="-110" dirty="0"/>
              <a:t> </a:t>
            </a:r>
            <a:r>
              <a:rPr dirty="0"/>
              <a:t>and</a:t>
            </a:r>
            <a:r>
              <a:rPr spc="-95" dirty="0"/>
              <a:t> </a:t>
            </a:r>
            <a:r>
              <a:rPr spc="-10" dirty="0"/>
              <a:t>Evaluation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1304" y="2889630"/>
            <a:ext cx="2724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solidFill>
                  <a:srgbClr val="C8C2C0"/>
                </a:solidFill>
                <a:latin typeface="Arial MT"/>
                <a:cs typeface="Arial MT"/>
              </a:rPr>
              <a:t>01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94004" y="3203448"/>
            <a:ext cx="4196080" cy="30480"/>
          </a:xfrm>
          <a:custGeom>
            <a:avLst/>
            <a:gdLst/>
            <a:ahLst/>
            <a:cxnLst/>
            <a:rect l="l" t="t" r="r" b="b"/>
            <a:pathLst>
              <a:path w="4196080" h="30480">
                <a:moveTo>
                  <a:pt x="4195572" y="0"/>
                </a:moveTo>
                <a:lnTo>
                  <a:pt x="0" y="0"/>
                </a:lnTo>
                <a:lnTo>
                  <a:pt x="0" y="30479"/>
                </a:lnTo>
                <a:lnTo>
                  <a:pt x="4195572" y="30479"/>
                </a:lnTo>
                <a:lnTo>
                  <a:pt x="4195572" y="0"/>
                </a:lnTo>
                <a:close/>
              </a:path>
            </a:pathLst>
          </a:custGeom>
          <a:solidFill>
            <a:srgbClr val="C49F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81304" y="3353561"/>
            <a:ext cx="3975100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Data</a:t>
            </a:r>
            <a:r>
              <a:rPr sz="22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Splitting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Divided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dataset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into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training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and testing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sets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model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validation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204840" y="2889630"/>
            <a:ext cx="2724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solidFill>
                  <a:srgbClr val="C8C2C0"/>
                </a:solidFill>
                <a:latin typeface="Arial MT"/>
                <a:cs typeface="Arial MT"/>
              </a:rPr>
              <a:t>02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216652" y="3203448"/>
            <a:ext cx="4197350" cy="30480"/>
          </a:xfrm>
          <a:custGeom>
            <a:avLst/>
            <a:gdLst/>
            <a:ahLst/>
            <a:cxnLst/>
            <a:rect l="l" t="t" r="r" b="b"/>
            <a:pathLst>
              <a:path w="4197350" h="30480">
                <a:moveTo>
                  <a:pt x="4197096" y="0"/>
                </a:moveTo>
                <a:lnTo>
                  <a:pt x="0" y="0"/>
                </a:lnTo>
                <a:lnTo>
                  <a:pt x="0" y="30479"/>
                </a:lnTo>
                <a:lnTo>
                  <a:pt x="4197096" y="30479"/>
                </a:lnTo>
                <a:lnTo>
                  <a:pt x="4197096" y="0"/>
                </a:lnTo>
                <a:close/>
              </a:path>
            </a:pathLst>
          </a:custGeom>
          <a:solidFill>
            <a:srgbClr val="C49F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204840" y="3353561"/>
            <a:ext cx="3784600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Hyperparameter</a:t>
            </a:r>
            <a:r>
              <a:rPr sz="220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Tuning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Applied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GridSearchCV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to</a:t>
            </a:r>
            <a:r>
              <a:rPr sz="1750" spc="-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optimize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model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parameters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systematically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628378" y="2889630"/>
            <a:ext cx="272415" cy="2927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750" spc="-25" dirty="0">
                <a:solidFill>
                  <a:srgbClr val="C8C2C0"/>
                </a:solidFill>
                <a:latin typeface="Arial MT"/>
                <a:cs typeface="Arial MT"/>
              </a:rPr>
              <a:t>03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40823" y="3203448"/>
            <a:ext cx="4196080" cy="30480"/>
          </a:xfrm>
          <a:custGeom>
            <a:avLst/>
            <a:gdLst/>
            <a:ahLst/>
            <a:cxnLst/>
            <a:rect l="l" t="t" r="r" b="b"/>
            <a:pathLst>
              <a:path w="4196080" h="30480">
                <a:moveTo>
                  <a:pt x="4195572" y="0"/>
                </a:moveTo>
                <a:lnTo>
                  <a:pt x="0" y="0"/>
                </a:lnTo>
                <a:lnTo>
                  <a:pt x="0" y="30479"/>
                </a:lnTo>
                <a:lnTo>
                  <a:pt x="4195572" y="30479"/>
                </a:lnTo>
                <a:lnTo>
                  <a:pt x="4195572" y="0"/>
                </a:lnTo>
                <a:close/>
              </a:path>
            </a:pathLst>
          </a:custGeom>
          <a:solidFill>
            <a:srgbClr val="C49F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628378" y="3353561"/>
            <a:ext cx="4193540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Performance</a:t>
            </a:r>
            <a:r>
              <a:rPr sz="2200" spc="-10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Metrics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Evaluated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using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precision,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recall,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and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F1-score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across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all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classes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81304" y="5032070"/>
            <a:ext cx="27241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25" dirty="0">
                <a:solidFill>
                  <a:srgbClr val="C8C2C0"/>
                </a:solidFill>
                <a:latin typeface="Arial MT"/>
                <a:cs typeface="Arial MT"/>
              </a:rPr>
              <a:t>04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94004" y="5346191"/>
            <a:ext cx="6408420" cy="30480"/>
          </a:xfrm>
          <a:custGeom>
            <a:avLst/>
            <a:gdLst/>
            <a:ahLst/>
            <a:cxnLst/>
            <a:rect l="l" t="t" r="r" b="b"/>
            <a:pathLst>
              <a:path w="6408420" h="30479">
                <a:moveTo>
                  <a:pt x="6408420" y="0"/>
                </a:moveTo>
                <a:lnTo>
                  <a:pt x="0" y="0"/>
                </a:lnTo>
                <a:lnTo>
                  <a:pt x="0" y="30479"/>
                </a:lnTo>
                <a:lnTo>
                  <a:pt x="6408420" y="30479"/>
                </a:lnTo>
                <a:lnTo>
                  <a:pt x="6408420" y="0"/>
                </a:lnTo>
                <a:close/>
              </a:path>
            </a:pathLst>
          </a:custGeom>
          <a:solidFill>
            <a:srgbClr val="C49F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781304" y="5496559"/>
            <a:ext cx="5361940" cy="84899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Confusion</a:t>
            </a:r>
            <a:r>
              <a:rPr sz="2200" spc="-10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Matrix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745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Analyzed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classification</a:t>
            </a:r>
            <a:r>
              <a:rPr sz="1750" spc="-6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errors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and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misclassification</a:t>
            </a:r>
            <a:r>
              <a:rPr sz="175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patterns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416545" y="5032070"/>
            <a:ext cx="27241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25" dirty="0">
                <a:solidFill>
                  <a:srgbClr val="C8C2C0"/>
                </a:solidFill>
                <a:latin typeface="Arial MT"/>
                <a:cs typeface="Arial MT"/>
              </a:rPr>
              <a:t>05</a:t>
            </a:r>
            <a:endParaRPr sz="175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427976" y="5346191"/>
            <a:ext cx="6408420" cy="30480"/>
          </a:xfrm>
          <a:custGeom>
            <a:avLst/>
            <a:gdLst/>
            <a:ahLst/>
            <a:cxnLst/>
            <a:rect l="l" t="t" r="r" b="b"/>
            <a:pathLst>
              <a:path w="6408419" h="30479">
                <a:moveTo>
                  <a:pt x="6408420" y="0"/>
                </a:moveTo>
                <a:lnTo>
                  <a:pt x="0" y="0"/>
                </a:lnTo>
                <a:lnTo>
                  <a:pt x="0" y="30479"/>
                </a:lnTo>
                <a:lnTo>
                  <a:pt x="6408420" y="30479"/>
                </a:lnTo>
                <a:lnTo>
                  <a:pt x="6408420" y="0"/>
                </a:lnTo>
                <a:close/>
              </a:path>
            </a:pathLst>
          </a:custGeom>
          <a:solidFill>
            <a:srgbClr val="C49F8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7416545" y="5496559"/>
            <a:ext cx="5185410" cy="84899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Class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 Imbalance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745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Accounted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for uneven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class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distribution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during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evaluation</a:t>
            </a:r>
            <a:endParaRPr sz="1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25731" rIns="0" bIns="0" rtlCol="0">
            <a:spAutoFit/>
          </a:bodyPr>
          <a:lstStyle/>
          <a:p>
            <a:pPr marL="97155">
              <a:lnSpc>
                <a:spcPct val="100000"/>
              </a:lnSpc>
              <a:spcBef>
                <a:spcPts val="1830"/>
              </a:spcBef>
            </a:pPr>
            <a:r>
              <a:rPr dirty="0"/>
              <a:t>Results</a:t>
            </a:r>
            <a:r>
              <a:rPr spc="-30" dirty="0"/>
              <a:t> </a:t>
            </a:r>
            <a:r>
              <a:rPr dirty="0"/>
              <a:t>and</a:t>
            </a:r>
            <a:r>
              <a:rPr spc="5" dirty="0"/>
              <a:t> </a:t>
            </a:r>
            <a:r>
              <a:rPr dirty="0"/>
              <a:t>Future</a:t>
            </a:r>
            <a:r>
              <a:rPr spc="-20" dirty="0"/>
              <a:t> </a:t>
            </a:r>
            <a:r>
              <a:rPr spc="-10" dirty="0"/>
              <a:t>Directions</a:t>
            </a:r>
          </a:p>
          <a:p>
            <a:pPr marL="97155">
              <a:lnSpc>
                <a:spcPct val="100000"/>
              </a:lnSpc>
              <a:spcBef>
                <a:spcPts val="1030"/>
              </a:spcBef>
            </a:pPr>
            <a:r>
              <a:rPr sz="2650" dirty="0"/>
              <a:t>Key</a:t>
            </a:r>
            <a:r>
              <a:rPr sz="2650" spc="-10" dirty="0"/>
              <a:t> Findings</a:t>
            </a:r>
            <a:endParaRPr sz="2650"/>
          </a:p>
        </p:txBody>
      </p:sp>
      <p:sp>
        <p:nvSpPr>
          <p:cNvPr id="3" name="object 3"/>
          <p:cNvSpPr/>
          <p:nvPr/>
        </p:nvSpPr>
        <p:spPr>
          <a:xfrm>
            <a:off x="794004" y="2462783"/>
            <a:ext cx="4196080" cy="2033270"/>
          </a:xfrm>
          <a:custGeom>
            <a:avLst/>
            <a:gdLst/>
            <a:ahLst/>
            <a:cxnLst/>
            <a:rect l="l" t="t" r="r" b="b"/>
            <a:pathLst>
              <a:path w="4196080" h="2033270">
                <a:moveTo>
                  <a:pt x="4161536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1998979"/>
                </a:lnTo>
                <a:lnTo>
                  <a:pt x="2674" y="2012227"/>
                </a:lnTo>
                <a:lnTo>
                  <a:pt x="9969" y="2023046"/>
                </a:lnTo>
                <a:lnTo>
                  <a:pt x="20788" y="2030341"/>
                </a:lnTo>
                <a:lnTo>
                  <a:pt x="34036" y="2033015"/>
                </a:lnTo>
                <a:lnTo>
                  <a:pt x="4161536" y="2033015"/>
                </a:lnTo>
                <a:lnTo>
                  <a:pt x="4174783" y="2030341"/>
                </a:lnTo>
                <a:lnTo>
                  <a:pt x="4185602" y="2023046"/>
                </a:lnTo>
                <a:lnTo>
                  <a:pt x="4192897" y="2012227"/>
                </a:lnTo>
                <a:lnTo>
                  <a:pt x="4195572" y="1998979"/>
                </a:lnTo>
                <a:lnTo>
                  <a:pt x="4195572" y="34036"/>
                </a:lnTo>
                <a:lnTo>
                  <a:pt x="4192897" y="20788"/>
                </a:lnTo>
                <a:lnTo>
                  <a:pt x="4185602" y="9969"/>
                </a:lnTo>
                <a:lnTo>
                  <a:pt x="4174783" y="2674"/>
                </a:lnTo>
                <a:lnTo>
                  <a:pt x="4161536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008075" y="2665222"/>
            <a:ext cx="3604260" cy="12172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Best</a:t>
            </a:r>
            <a:r>
              <a:rPr sz="2200" spc="-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Model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Random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Forest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achieved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highest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overall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performance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across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evaluation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metrics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216652" y="2462783"/>
            <a:ext cx="4197350" cy="2033270"/>
          </a:xfrm>
          <a:custGeom>
            <a:avLst/>
            <a:gdLst/>
            <a:ahLst/>
            <a:cxnLst/>
            <a:rect l="l" t="t" r="r" b="b"/>
            <a:pathLst>
              <a:path w="4197350" h="2033270">
                <a:moveTo>
                  <a:pt x="4163059" y="0"/>
                </a:moveTo>
                <a:lnTo>
                  <a:pt x="34036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1998979"/>
                </a:lnTo>
                <a:lnTo>
                  <a:pt x="2674" y="2012227"/>
                </a:lnTo>
                <a:lnTo>
                  <a:pt x="9969" y="2023046"/>
                </a:lnTo>
                <a:lnTo>
                  <a:pt x="20788" y="2030341"/>
                </a:lnTo>
                <a:lnTo>
                  <a:pt x="34036" y="2033015"/>
                </a:lnTo>
                <a:lnTo>
                  <a:pt x="4163059" y="2033015"/>
                </a:lnTo>
                <a:lnTo>
                  <a:pt x="4176307" y="2030341"/>
                </a:lnTo>
                <a:lnTo>
                  <a:pt x="4187126" y="2023046"/>
                </a:lnTo>
                <a:lnTo>
                  <a:pt x="4194421" y="2012227"/>
                </a:lnTo>
                <a:lnTo>
                  <a:pt x="4197096" y="1998979"/>
                </a:lnTo>
                <a:lnTo>
                  <a:pt x="4197096" y="34036"/>
                </a:lnTo>
                <a:lnTo>
                  <a:pt x="4194421" y="20788"/>
                </a:lnTo>
                <a:lnTo>
                  <a:pt x="4187126" y="9969"/>
                </a:lnTo>
                <a:lnTo>
                  <a:pt x="4176307" y="2674"/>
                </a:lnTo>
                <a:lnTo>
                  <a:pt x="4163059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431663" y="2665222"/>
            <a:ext cx="3201670" cy="15862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Ensemble</a:t>
            </a:r>
            <a:r>
              <a:rPr sz="2200" spc="-9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Success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Tree-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based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ensemble</a:t>
            </a:r>
            <a:r>
              <a:rPr sz="1750" spc="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methods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outperformed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baseline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Naive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Bayes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classifier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640823" y="2462783"/>
            <a:ext cx="4196080" cy="2033270"/>
          </a:xfrm>
          <a:custGeom>
            <a:avLst/>
            <a:gdLst/>
            <a:ahLst/>
            <a:cxnLst/>
            <a:rect l="l" t="t" r="r" b="b"/>
            <a:pathLst>
              <a:path w="4196080" h="2033270">
                <a:moveTo>
                  <a:pt x="4161535" y="0"/>
                </a:moveTo>
                <a:lnTo>
                  <a:pt x="34035" y="0"/>
                </a:lnTo>
                <a:lnTo>
                  <a:pt x="20788" y="2674"/>
                </a:lnTo>
                <a:lnTo>
                  <a:pt x="9969" y="9969"/>
                </a:lnTo>
                <a:lnTo>
                  <a:pt x="2674" y="20788"/>
                </a:lnTo>
                <a:lnTo>
                  <a:pt x="0" y="34036"/>
                </a:lnTo>
                <a:lnTo>
                  <a:pt x="0" y="1998979"/>
                </a:lnTo>
                <a:lnTo>
                  <a:pt x="2674" y="2012227"/>
                </a:lnTo>
                <a:lnTo>
                  <a:pt x="9969" y="2023046"/>
                </a:lnTo>
                <a:lnTo>
                  <a:pt x="20788" y="2030341"/>
                </a:lnTo>
                <a:lnTo>
                  <a:pt x="34035" y="2033015"/>
                </a:lnTo>
                <a:lnTo>
                  <a:pt x="4161535" y="2033015"/>
                </a:lnTo>
                <a:lnTo>
                  <a:pt x="4174783" y="2030341"/>
                </a:lnTo>
                <a:lnTo>
                  <a:pt x="4185602" y="2023046"/>
                </a:lnTo>
                <a:lnTo>
                  <a:pt x="4192897" y="2012227"/>
                </a:lnTo>
                <a:lnTo>
                  <a:pt x="4195572" y="1998979"/>
                </a:lnTo>
                <a:lnTo>
                  <a:pt x="4195572" y="34036"/>
                </a:lnTo>
                <a:lnTo>
                  <a:pt x="4192897" y="20788"/>
                </a:lnTo>
                <a:lnTo>
                  <a:pt x="4185602" y="9969"/>
                </a:lnTo>
                <a:lnTo>
                  <a:pt x="4174783" y="2674"/>
                </a:lnTo>
                <a:lnTo>
                  <a:pt x="4161535" y="0"/>
                </a:lnTo>
                <a:close/>
              </a:path>
            </a:pathLst>
          </a:custGeom>
          <a:solidFill>
            <a:srgbClr val="373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9855200" y="2665222"/>
            <a:ext cx="3376295" cy="12172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Challenge</a:t>
            </a:r>
            <a:r>
              <a:rPr sz="2200" spc="-1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20" dirty="0">
                <a:solidFill>
                  <a:srgbClr val="C8C2C0"/>
                </a:solidFill>
                <a:latin typeface="Times New Roman"/>
                <a:cs typeface="Times New Roman"/>
              </a:rPr>
              <a:t>Area</a:t>
            </a:r>
            <a:endParaRPr sz="2200">
              <a:latin typeface="Times New Roman"/>
              <a:cs typeface="Times New Roman"/>
            </a:endParaRPr>
          </a:p>
          <a:p>
            <a:pPr marL="12700" marR="5080">
              <a:lnSpc>
                <a:spcPct val="138300"/>
              </a:lnSpc>
              <a:spcBef>
                <a:spcPts val="94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Negative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sentiment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prediction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proved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most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difficult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due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to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class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imbalance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81304" y="4800980"/>
            <a:ext cx="1723389" cy="429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50" dirty="0">
                <a:solidFill>
                  <a:srgbClr val="D7B6A3"/>
                </a:solidFill>
                <a:latin typeface="Times New Roman"/>
                <a:cs typeface="Times New Roman"/>
              </a:rPr>
              <a:t>Future</a:t>
            </a:r>
            <a:r>
              <a:rPr sz="2650" spc="-80" dirty="0">
                <a:solidFill>
                  <a:srgbClr val="D7B6A3"/>
                </a:solidFill>
                <a:latin typeface="Times New Roman"/>
                <a:cs typeface="Times New Roman"/>
              </a:rPr>
              <a:t> </a:t>
            </a:r>
            <a:r>
              <a:rPr sz="2650" spc="-40" dirty="0">
                <a:solidFill>
                  <a:srgbClr val="D7B6A3"/>
                </a:solidFill>
                <a:latin typeface="Times New Roman"/>
                <a:cs typeface="Times New Roman"/>
              </a:rPr>
              <a:t>Work</a:t>
            </a:r>
            <a:endParaRPr sz="2650">
              <a:latin typeface="Times New Roman"/>
              <a:cs typeface="Times New Roman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78763" y="5585459"/>
            <a:ext cx="6438900" cy="1762125"/>
            <a:chOff x="778763" y="5585459"/>
            <a:chExt cx="6438900" cy="1762125"/>
          </a:xfrm>
        </p:grpSpPr>
        <p:sp>
          <p:nvSpPr>
            <p:cNvPr id="11" name="object 11"/>
            <p:cNvSpPr/>
            <p:nvPr/>
          </p:nvSpPr>
          <p:spPr>
            <a:xfrm>
              <a:off x="794003" y="5600699"/>
              <a:ext cx="6408420" cy="1731645"/>
            </a:xfrm>
            <a:custGeom>
              <a:avLst/>
              <a:gdLst/>
              <a:ahLst/>
              <a:cxnLst/>
              <a:rect l="l" t="t" r="r" b="b"/>
              <a:pathLst>
                <a:path w="6408420" h="1731645">
                  <a:moveTo>
                    <a:pt x="6374384" y="0"/>
                  </a:moveTo>
                  <a:lnTo>
                    <a:pt x="34036" y="0"/>
                  </a:lnTo>
                  <a:lnTo>
                    <a:pt x="20788" y="2674"/>
                  </a:lnTo>
                  <a:lnTo>
                    <a:pt x="9969" y="9969"/>
                  </a:lnTo>
                  <a:lnTo>
                    <a:pt x="2674" y="20788"/>
                  </a:lnTo>
                  <a:lnTo>
                    <a:pt x="0" y="34036"/>
                  </a:lnTo>
                  <a:lnTo>
                    <a:pt x="0" y="1697227"/>
                  </a:lnTo>
                  <a:lnTo>
                    <a:pt x="2674" y="1710475"/>
                  </a:lnTo>
                  <a:lnTo>
                    <a:pt x="9969" y="1721294"/>
                  </a:lnTo>
                  <a:lnTo>
                    <a:pt x="20788" y="1728589"/>
                  </a:lnTo>
                  <a:lnTo>
                    <a:pt x="34036" y="1731264"/>
                  </a:lnTo>
                  <a:lnTo>
                    <a:pt x="6374384" y="1731264"/>
                  </a:lnTo>
                  <a:lnTo>
                    <a:pt x="6387631" y="1728589"/>
                  </a:lnTo>
                  <a:lnTo>
                    <a:pt x="6398450" y="1721294"/>
                  </a:lnTo>
                  <a:lnTo>
                    <a:pt x="6405745" y="1710475"/>
                  </a:lnTo>
                  <a:lnTo>
                    <a:pt x="6408420" y="1697227"/>
                  </a:lnTo>
                  <a:lnTo>
                    <a:pt x="6408420" y="34036"/>
                  </a:lnTo>
                  <a:lnTo>
                    <a:pt x="6405745" y="20788"/>
                  </a:lnTo>
                  <a:lnTo>
                    <a:pt x="6398450" y="9969"/>
                  </a:lnTo>
                  <a:lnTo>
                    <a:pt x="6387631" y="2674"/>
                  </a:lnTo>
                  <a:lnTo>
                    <a:pt x="6374384" y="0"/>
                  </a:lnTo>
                  <a:close/>
                </a:path>
              </a:pathLst>
            </a:custGeom>
            <a:solidFill>
              <a:srgbClr val="46434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94003" y="5600699"/>
              <a:ext cx="6408420" cy="1731645"/>
            </a:xfrm>
            <a:custGeom>
              <a:avLst/>
              <a:gdLst/>
              <a:ahLst/>
              <a:cxnLst/>
              <a:rect l="l" t="t" r="r" b="b"/>
              <a:pathLst>
                <a:path w="6408420" h="1731645">
                  <a:moveTo>
                    <a:pt x="0" y="34036"/>
                  </a:moveTo>
                  <a:lnTo>
                    <a:pt x="2674" y="20788"/>
                  </a:lnTo>
                  <a:lnTo>
                    <a:pt x="9969" y="9969"/>
                  </a:lnTo>
                  <a:lnTo>
                    <a:pt x="20788" y="2674"/>
                  </a:lnTo>
                  <a:lnTo>
                    <a:pt x="34036" y="0"/>
                  </a:lnTo>
                  <a:lnTo>
                    <a:pt x="6374384" y="0"/>
                  </a:lnTo>
                  <a:lnTo>
                    <a:pt x="6387631" y="2674"/>
                  </a:lnTo>
                  <a:lnTo>
                    <a:pt x="6398450" y="9969"/>
                  </a:lnTo>
                  <a:lnTo>
                    <a:pt x="6405745" y="20788"/>
                  </a:lnTo>
                  <a:lnTo>
                    <a:pt x="6408420" y="34036"/>
                  </a:lnTo>
                  <a:lnTo>
                    <a:pt x="6408420" y="1697227"/>
                  </a:lnTo>
                  <a:lnTo>
                    <a:pt x="6405745" y="1710475"/>
                  </a:lnTo>
                  <a:lnTo>
                    <a:pt x="6398450" y="1721294"/>
                  </a:lnTo>
                  <a:lnTo>
                    <a:pt x="6387631" y="1728589"/>
                  </a:lnTo>
                  <a:lnTo>
                    <a:pt x="6374384" y="1731264"/>
                  </a:lnTo>
                  <a:lnTo>
                    <a:pt x="34036" y="1731264"/>
                  </a:lnTo>
                  <a:lnTo>
                    <a:pt x="20788" y="1728589"/>
                  </a:lnTo>
                  <a:lnTo>
                    <a:pt x="9969" y="1721294"/>
                  </a:lnTo>
                  <a:lnTo>
                    <a:pt x="2674" y="1710475"/>
                  </a:lnTo>
                  <a:lnTo>
                    <a:pt x="0" y="1697227"/>
                  </a:lnTo>
                  <a:lnTo>
                    <a:pt x="0" y="34036"/>
                  </a:lnTo>
                  <a:close/>
                </a:path>
              </a:pathLst>
            </a:custGeom>
            <a:ln w="30480">
              <a:solidFill>
                <a:srgbClr val="504D4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038555" y="5834634"/>
            <a:ext cx="5905500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Data</a:t>
            </a:r>
            <a:r>
              <a:rPr sz="220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Balancing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739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Apply</a:t>
            </a:r>
            <a:r>
              <a:rPr sz="1750" spc="-2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oversampling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or undersampling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techniques</a:t>
            </a:r>
            <a:r>
              <a:rPr sz="1750" spc="-4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to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address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class</a:t>
            </a:r>
            <a:endParaRPr sz="17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imbalance</a:t>
            </a:r>
            <a:endParaRPr sz="1750">
              <a:latin typeface="Times New Roman"/>
              <a:cs typeface="Times New Roman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7412735" y="5585459"/>
            <a:ext cx="6438900" cy="1762125"/>
            <a:chOff x="7412735" y="5585459"/>
            <a:chExt cx="6438900" cy="1762125"/>
          </a:xfrm>
        </p:grpSpPr>
        <p:sp>
          <p:nvSpPr>
            <p:cNvPr id="15" name="object 15"/>
            <p:cNvSpPr/>
            <p:nvPr/>
          </p:nvSpPr>
          <p:spPr>
            <a:xfrm>
              <a:off x="7427975" y="5600699"/>
              <a:ext cx="6408420" cy="1731645"/>
            </a:xfrm>
            <a:custGeom>
              <a:avLst/>
              <a:gdLst/>
              <a:ahLst/>
              <a:cxnLst/>
              <a:rect l="l" t="t" r="r" b="b"/>
              <a:pathLst>
                <a:path w="6408419" h="1731645">
                  <a:moveTo>
                    <a:pt x="6374383" y="0"/>
                  </a:moveTo>
                  <a:lnTo>
                    <a:pt x="34035" y="0"/>
                  </a:lnTo>
                  <a:lnTo>
                    <a:pt x="20788" y="2674"/>
                  </a:lnTo>
                  <a:lnTo>
                    <a:pt x="9969" y="9969"/>
                  </a:lnTo>
                  <a:lnTo>
                    <a:pt x="2674" y="20788"/>
                  </a:lnTo>
                  <a:lnTo>
                    <a:pt x="0" y="34036"/>
                  </a:lnTo>
                  <a:lnTo>
                    <a:pt x="0" y="1697227"/>
                  </a:lnTo>
                  <a:lnTo>
                    <a:pt x="2674" y="1710475"/>
                  </a:lnTo>
                  <a:lnTo>
                    <a:pt x="9969" y="1721294"/>
                  </a:lnTo>
                  <a:lnTo>
                    <a:pt x="20788" y="1728589"/>
                  </a:lnTo>
                  <a:lnTo>
                    <a:pt x="34035" y="1731264"/>
                  </a:lnTo>
                  <a:lnTo>
                    <a:pt x="6374383" y="1731264"/>
                  </a:lnTo>
                  <a:lnTo>
                    <a:pt x="6387631" y="1728589"/>
                  </a:lnTo>
                  <a:lnTo>
                    <a:pt x="6398450" y="1721294"/>
                  </a:lnTo>
                  <a:lnTo>
                    <a:pt x="6405745" y="1710475"/>
                  </a:lnTo>
                  <a:lnTo>
                    <a:pt x="6408420" y="1697227"/>
                  </a:lnTo>
                  <a:lnTo>
                    <a:pt x="6408420" y="34036"/>
                  </a:lnTo>
                  <a:lnTo>
                    <a:pt x="6405745" y="20788"/>
                  </a:lnTo>
                  <a:lnTo>
                    <a:pt x="6398450" y="9969"/>
                  </a:lnTo>
                  <a:lnTo>
                    <a:pt x="6387631" y="2674"/>
                  </a:lnTo>
                  <a:lnTo>
                    <a:pt x="6374383" y="0"/>
                  </a:lnTo>
                  <a:close/>
                </a:path>
              </a:pathLst>
            </a:custGeom>
            <a:solidFill>
              <a:srgbClr val="46434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427975" y="5600699"/>
              <a:ext cx="6408420" cy="1731645"/>
            </a:xfrm>
            <a:custGeom>
              <a:avLst/>
              <a:gdLst/>
              <a:ahLst/>
              <a:cxnLst/>
              <a:rect l="l" t="t" r="r" b="b"/>
              <a:pathLst>
                <a:path w="6408419" h="1731645">
                  <a:moveTo>
                    <a:pt x="0" y="34036"/>
                  </a:moveTo>
                  <a:lnTo>
                    <a:pt x="2674" y="20788"/>
                  </a:lnTo>
                  <a:lnTo>
                    <a:pt x="9969" y="9969"/>
                  </a:lnTo>
                  <a:lnTo>
                    <a:pt x="20788" y="2674"/>
                  </a:lnTo>
                  <a:lnTo>
                    <a:pt x="34035" y="0"/>
                  </a:lnTo>
                  <a:lnTo>
                    <a:pt x="6374383" y="0"/>
                  </a:lnTo>
                  <a:lnTo>
                    <a:pt x="6387631" y="2674"/>
                  </a:lnTo>
                  <a:lnTo>
                    <a:pt x="6398450" y="9969"/>
                  </a:lnTo>
                  <a:lnTo>
                    <a:pt x="6405745" y="20788"/>
                  </a:lnTo>
                  <a:lnTo>
                    <a:pt x="6408420" y="34036"/>
                  </a:lnTo>
                  <a:lnTo>
                    <a:pt x="6408420" y="1697227"/>
                  </a:lnTo>
                  <a:lnTo>
                    <a:pt x="6405745" y="1710475"/>
                  </a:lnTo>
                  <a:lnTo>
                    <a:pt x="6398450" y="1721294"/>
                  </a:lnTo>
                  <a:lnTo>
                    <a:pt x="6387631" y="1728589"/>
                  </a:lnTo>
                  <a:lnTo>
                    <a:pt x="6374383" y="1731264"/>
                  </a:lnTo>
                  <a:lnTo>
                    <a:pt x="34035" y="1731264"/>
                  </a:lnTo>
                  <a:lnTo>
                    <a:pt x="20788" y="1728589"/>
                  </a:lnTo>
                  <a:lnTo>
                    <a:pt x="9969" y="1721294"/>
                  </a:lnTo>
                  <a:lnTo>
                    <a:pt x="2674" y="1710475"/>
                  </a:lnTo>
                  <a:lnTo>
                    <a:pt x="0" y="1697227"/>
                  </a:lnTo>
                  <a:lnTo>
                    <a:pt x="0" y="34036"/>
                  </a:lnTo>
                  <a:close/>
                </a:path>
              </a:pathLst>
            </a:custGeom>
            <a:ln w="30480">
              <a:solidFill>
                <a:srgbClr val="504D4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7673720" y="5834634"/>
            <a:ext cx="5513705" cy="12179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solidFill>
                  <a:srgbClr val="C8C2C0"/>
                </a:solidFill>
                <a:latin typeface="Times New Roman"/>
                <a:cs typeface="Times New Roman"/>
              </a:rPr>
              <a:t>Deep</a:t>
            </a:r>
            <a:r>
              <a:rPr sz="2200" spc="-5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2200" spc="-10" dirty="0">
                <a:solidFill>
                  <a:srgbClr val="C8C2C0"/>
                </a:solidFill>
                <a:latin typeface="Times New Roman"/>
                <a:cs typeface="Times New Roman"/>
              </a:rPr>
              <a:t>Learning</a:t>
            </a:r>
            <a:endParaRPr sz="2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739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Explore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neural</a:t>
            </a:r>
            <a:r>
              <a:rPr sz="1750" spc="-3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network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architectures</a:t>
            </a:r>
            <a:r>
              <a:rPr sz="1750" spc="-5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like</a:t>
            </a:r>
            <a:r>
              <a:rPr sz="1750" spc="-3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LSTM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or</a:t>
            </a:r>
            <a:r>
              <a:rPr sz="1750" spc="-1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BERT</a:t>
            </a:r>
            <a:r>
              <a:rPr sz="1750" spc="-40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for</a:t>
            </a:r>
            <a:endParaRPr sz="17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810"/>
              </a:spcBef>
            </a:pPr>
            <a:r>
              <a:rPr sz="1750" dirty="0">
                <a:solidFill>
                  <a:srgbClr val="C8C2C0"/>
                </a:solidFill>
                <a:latin typeface="Times New Roman"/>
                <a:cs typeface="Times New Roman"/>
              </a:rPr>
              <a:t>enhanced</a:t>
            </a:r>
            <a:r>
              <a:rPr sz="1750" spc="-25" dirty="0">
                <a:solidFill>
                  <a:srgbClr val="C8C2C0"/>
                </a:solidFill>
                <a:latin typeface="Times New Roman"/>
                <a:cs typeface="Times New Roman"/>
              </a:rPr>
              <a:t> </a:t>
            </a:r>
            <a:r>
              <a:rPr sz="1750" spc="-10" dirty="0">
                <a:solidFill>
                  <a:srgbClr val="C8C2C0"/>
                </a:solidFill>
                <a:latin typeface="Times New Roman"/>
                <a:cs typeface="Times New Roman"/>
              </a:rPr>
              <a:t>performance</a:t>
            </a:r>
            <a:endParaRPr sz="1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Words>513</Words>
  <Application>Microsoft Office PowerPoint</Application>
  <PresentationFormat>Custom</PresentationFormat>
  <Paragraphs>115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 MT</vt:lpstr>
      <vt:lpstr>Calibri</vt:lpstr>
      <vt:lpstr>Georgia</vt:lpstr>
      <vt:lpstr>Times New Roman</vt:lpstr>
      <vt:lpstr>Office Theme</vt:lpstr>
      <vt:lpstr>Sentiment Analysis of SXSW Tech Tweets</vt:lpstr>
      <vt:lpstr>Introduction: The Power of Sentiment Analysis</vt:lpstr>
      <vt:lpstr>Problem Statement</vt:lpstr>
      <vt:lpstr>Dataset Overview</vt:lpstr>
      <vt:lpstr>Exploratory Data Analysis</vt:lpstr>
      <vt:lpstr>Text Preprocessing Pipeline</vt:lpstr>
      <vt:lpstr>Feature Engineering: TF-IDF Vectorization</vt:lpstr>
      <vt:lpstr>Machine Learning Models</vt:lpstr>
      <vt:lpstr>Model Training and Evaluation</vt:lpstr>
      <vt:lpstr>Results and Future Directions Key Findings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Vicky</dc:creator>
  <cp:lastModifiedBy>Vicky Gakuo</cp:lastModifiedBy>
  <cp:revision>1</cp:revision>
  <dcterms:created xsi:type="dcterms:W3CDTF">2026-02-04T14:39:03Z</dcterms:created>
  <dcterms:modified xsi:type="dcterms:W3CDTF">2026-02-04T15:22:00Z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2026-02-04T00:00:00Z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2026-02-04T00:00:00Z</vt:filetime>
  </property>
  <property fmtid="{D5CDD505-2E9C-101B-9397-08002B2CF9AE}" pid="5" name="Producer">
    <vt:lpwstr>Microsoft® PowerPoint® 2013</vt:lpwstr>
  </property>
</Properties>
</file>